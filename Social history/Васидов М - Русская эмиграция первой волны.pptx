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29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64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47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51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127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55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20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04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10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68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778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931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03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64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B6110C8-5BA5-4D13-9BE1-114B6C2B6902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09F6850-B2A6-49B4-8260-8C77C2DCA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70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7CCFA-4E0D-9C5A-2FB1-2D08765C1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534886"/>
            <a:ext cx="10572000" cy="2019898"/>
          </a:xfrm>
        </p:spPr>
        <p:txBody>
          <a:bodyPr/>
          <a:lstStyle/>
          <a:p>
            <a:pPr algn="ctr"/>
            <a:r>
              <a:rPr lang="ru-RU" sz="6000" dirty="0"/>
              <a:t>Русская эмиграция первой волны (1917-1941)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679F97-6962-51FF-8D48-01588CD5C2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631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2290F0-E45D-41DB-B296-10FEC3519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42F5B9E6-0E39-45C4-A238-A7F0FA66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944" cy="6858000"/>
          </a:xfrm>
          <a:custGeom>
            <a:avLst/>
            <a:gdLst>
              <a:gd name="connsiteX0" fmla="*/ 0 w 7552944"/>
              <a:gd name="connsiteY0" fmla="*/ 0 h 6858000"/>
              <a:gd name="connsiteX1" fmla="*/ 1067477 w 7552944"/>
              <a:gd name="connsiteY1" fmla="*/ 0 h 6858000"/>
              <a:gd name="connsiteX2" fmla="*/ 2201779 w 7552944"/>
              <a:gd name="connsiteY2" fmla="*/ 0 h 6858000"/>
              <a:gd name="connsiteX3" fmla="*/ 7552944 w 7552944"/>
              <a:gd name="connsiteY3" fmla="*/ 0 h 6858000"/>
              <a:gd name="connsiteX4" fmla="*/ 7552944 w 7552944"/>
              <a:gd name="connsiteY4" fmla="*/ 1900238 h 6858000"/>
              <a:gd name="connsiteX5" fmla="*/ 7182528 w 7552944"/>
              <a:gd name="connsiteY5" fmla="*/ 2178050 h 6858000"/>
              <a:gd name="connsiteX6" fmla="*/ 7178294 w 7552944"/>
              <a:gd name="connsiteY6" fmla="*/ 2184400 h 6858000"/>
              <a:gd name="connsiteX7" fmla="*/ 7171944 w 7552944"/>
              <a:gd name="connsiteY7" fmla="*/ 2193925 h 6858000"/>
              <a:gd name="connsiteX8" fmla="*/ 7165594 w 7552944"/>
              <a:gd name="connsiteY8" fmla="*/ 2201863 h 6858000"/>
              <a:gd name="connsiteX9" fmla="*/ 7165594 w 7552944"/>
              <a:gd name="connsiteY9" fmla="*/ 2211388 h 6858000"/>
              <a:gd name="connsiteX10" fmla="*/ 7165594 w 7552944"/>
              <a:gd name="connsiteY10" fmla="*/ 2220913 h 6858000"/>
              <a:gd name="connsiteX11" fmla="*/ 7171944 w 7552944"/>
              <a:gd name="connsiteY11" fmla="*/ 2228850 h 6858000"/>
              <a:gd name="connsiteX12" fmla="*/ 7178294 w 7552944"/>
              <a:gd name="connsiteY12" fmla="*/ 2238375 h 6858000"/>
              <a:gd name="connsiteX13" fmla="*/ 7182528 w 7552944"/>
              <a:gd name="connsiteY13" fmla="*/ 2244725 h 6858000"/>
              <a:gd name="connsiteX14" fmla="*/ 7552944 w 7552944"/>
              <a:gd name="connsiteY14" fmla="*/ 2522538 h 6858000"/>
              <a:gd name="connsiteX15" fmla="*/ 7552944 w 7552944"/>
              <a:gd name="connsiteY15" fmla="*/ 6858000 h 6858000"/>
              <a:gd name="connsiteX16" fmla="*/ 2201779 w 7552944"/>
              <a:gd name="connsiteY16" fmla="*/ 6858000 h 6858000"/>
              <a:gd name="connsiteX17" fmla="*/ 1067477 w 7552944"/>
              <a:gd name="connsiteY17" fmla="*/ 6858000 h 6858000"/>
              <a:gd name="connsiteX18" fmla="*/ 0 w 7552944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552944" h="6858000">
                <a:moveTo>
                  <a:pt x="0" y="0"/>
                </a:moveTo>
                <a:lnTo>
                  <a:pt x="1067477" y="0"/>
                </a:lnTo>
                <a:lnTo>
                  <a:pt x="2201779" y="0"/>
                </a:lnTo>
                <a:lnTo>
                  <a:pt x="7552944" y="0"/>
                </a:lnTo>
                <a:lnTo>
                  <a:pt x="7552944" y="1900238"/>
                </a:lnTo>
                <a:lnTo>
                  <a:pt x="7182528" y="2178050"/>
                </a:lnTo>
                <a:lnTo>
                  <a:pt x="7178294" y="2184400"/>
                </a:lnTo>
                <a:lnTo>
                  <a:pt x="7171944" y="2193925"/>
                </a:lnTo>
                <a:lnTo>
                  <a:pt x="7165594" y="2201863"/>
                </a:lnTo>
                <a:lnTo>
                  <a:pt x="7165594" y="2211388"/>
                </a:lnTo>
                <a:lnTo>
                  <a:pt x="7165594" y="2220913"/>
                </a:lnTo>
                <a:lnTo>
                  <a:pt x="7171944" y="2228850"/>
                </a:lnTo>
                <a:lnTo>
                  <a:pt x="7178294" y="2238375"/>
                </a:lnTo>
                <a:lnTo>
                  <a:pt x="7182528" y="2244725"/>
                </a:lnTo>
                <a:lnTo>
                  <a:pt x="7552944" y="2522538"/>
                </a:lnTo>
                <a:lnTo>
                  <a:pt x="7552944" y="6858000"/>
                </a:lnTo>
                <a:lnTo>
                  <a:pt x="2201779" y="6858000"/>
                </a:lnTo>
                <a:lnTo>
                  <a:pt x="1067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E8ADB-5A28-1ED3-3448-C0FC0EC5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313288"/>
            <a:ext cx="6170903" cy="15594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3600" dirty="0"/>
              <a:t>Абрамов Федор Федорович</a:t>
            </a:r>
            <a:br>
              <a:rPr lang="en-US" dirty="0"/>
            </a:br>
            <a:r>
              <a:rPr lang="ru-RU" sz="1600" b="0" i="1" dirty="0"/>
              <a:t>Генерал-лейтенант, военный деятель</a:t>
            </a:r>
            <a:br>
              <a:rPr lang="ru-RU" sz="1600" b="0" i="1" dirty="0"/>
            </a:br>
            <a:r>
              <a:rPr lang="ru-RU" sz="1600" dirty="0"/>
              <a:t>Место захоронения: </a:t>
            </a:r>
            <a:r>
              <a:rPr lang="ru-RU" sz="1600" b="0" dirty="0"/>
              <a:t>Свято-Владимирское кладбище в Джексоне, 				  штат Нью-Джерси</a:t>
            </a:r>
            <a:endParaRPr lang="en-US" sz="4000" b="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A39483-B986-1ED6-AA1D-430D2D9C7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000" y="2393818"/>
            <a:ext cx="6075179" cy="1759264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Родился в станице </a:t>
            </a:r>
            <a:r>
              <a:rPr lang="ru-RU" dirty="0" err="1">
                <a:solidFill>
                  <a:schemeClr val="bg1"/>
                </a:solidFill>
              </a:rPr>
              <a:t>Митякинской</a:t>
            </a:r>
            <a:r>
              <a:rPr lang="ru-RU" dirty="0">
                <a:solidFill>
                  <a:schemeClr val="bg1"/>
                </a:solidFill>
              </a:rPr>
              <a:t> Области Войска Донского в казачьей дворянской семье. Окончил Петровско-Полтавский кадетский корпус, Николаевское инженерное училище и Николаевскую академию Генерального штаба. Участник Русско-японской и Первой мировой войн. Во время Гражданской войны — один из виднейших командиров Белого движения, командовал Донским корпусом в армии генерала Врангеля.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B97A76A2-B7F2-4D75-AB9E-71FB74882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746" y="958640"/>
            <a:ext cx="335479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Объект 5" descr="Изображение выглядит как Человеческое лицо, одежда, военная форма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17323F-3C3D-F90E-5134-3C82E1F3D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487" y="1057057"/>
            <a:ext cx="2735071" cy="3907244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9CD633B-D00E-D694-02B5-4C199F0C540C}"/>
              </a:ext>
            </a:extLst>
          </p:cNvPr>
          <p:cNvSpPr txBox="1">
            <a:spLocks/>
          </p:cNvSpPr>
          <p:nvPr/>
        </p:nvSpPr>
        <p:spPr>
          <a:xfrm>
            <a:off x="8507487" y="5170775"/>
            <a:ext cx="2735071" cy="54176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1870-1963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0CE91E9-EFD4-2274-EB9A-AA2E94D7A8E9}"/>
              </a:ext>
            </a:extLst>
          </p:cNvPr>
          <p:cNvSpPr txBox="1">
            <a:spLocks/>
          </p:cNvSpPr>
          <p:nvPr/>
        </p:nvSpPr>
        <p:spPr>
          <a:xfrm>
            <a:off x="727493" y="1839603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Краткая биография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F949E6D8-1AAD-B821-E81D-6169C97C3ADC}"/>
              </a:ext>
            </a:extLst>
          </p:cNvPr>
          <p:cNvSpPr txBox="1">
            <a:spLocks/>
          </p:cNvSpPr>
          <p:nvPr/>
        </p:nvSpPr>
        <p:spPr>
          <a:xfrm>
            <a:off x="810000" y="4832910"/>
            <a:ext cx="6075179" cy="175926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solidFill>
                  <a:schemeClr val="bg1"/>
                </a:solidFill>
              </a:rPr>
              <a:t>Абрамов был активным участником Белого движения и сражался против большевиков в Гражданской войне. Командовал Донским корпусом, особенно отличился при разгроме конного корпуса Жлобы летом 1920 года. После поражения Белой армии и эвакуации из Крыма в ноябре 1920 года был вынужден эмигрировать. Являлся непримиримым противником советской власти.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1EA2BDC-9FD1-C54F-EE99-55EB8C7FD4DB}"/>
              </a:ext>
            </a:extLst>
          </p:cNvPr>
          <p:cNvSpPr txBox="1">
            <a:spLocks/>
          </p:cNvSpPr>
          <p:nvPr/>
        </p:nvSpPr>
        <p:spPr>
          <a:xfrm>
            <a:off x="809999" y="4243105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Причины эмиграции</a:t>
            </a:r>
          </a:p>
        </p:txBody>
      </p:sp>
    </p:spTree>
    <p:extLst>
      <p:ext uri="{BB962C8B-B14F-4D97-AF65-F5344CB8AC3E}">
        <p14:creationId xmlns:p14="http://schemas.microsoft.com/office/powerpoint/2010/main" val="58397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C187E-AB1B-BF47-51F9-F8AC665A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Страны проживания</a:t>
            </a:r>
            <a:endParaRPr lang="ru-RU" dirty="0"/>
          </a:p>
        </p:txBody>
      </p:sp>
      <p:sp>
        <p:nvSpPr>
          <p:cNvPr id="4" name="Выноска: линия с чертой 3">
            <a:extLst>
              <a:ext uri="{FF2B5EF4-FFF2-40B4-BE49-F238E27FC236}">
                <a16:creationId xmlns:a16="http://schemas.microsoft.com/office/drawing/2014/main" id="{9A0F6171-63C0-73A6-D7CB-AA6167496ED8}"/>
              </a:ext>
            </a:extLst>
          </p:cNvPr>
          <p:cNvSpPr/>
          <p:nvPr/>
        </p:nvSpPr>
        <p:spPr>
          <a:xfrm>
            <a:off x="1681316" y="2477730"/>
            <a:ext cx="2959510" cy="1219200"/>
          </a:xfrm>
          <a:prstGeom prst="accentCallout1">
            <a:avLst>
              <a:gd name="adj1" fmla="val 49395"/>
              <a:gd name="adj2" fmla="val 102773"/>
              <a:gd name="adj3" fmla="val 50403"/>
              <a:gd name="adj4" fmla="val 1851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После эвакуации в </a:t>
            </a:r>
            <a:r>
              <a:rPr lang="ru-RU" b="1" dirty="0">
                <a:solidFill>
                  <a:schemeClr val="bg1"/>
                </a:solidFill>
              </a:rPr>
              <a:t>Константинополе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Выноска: двойная изогнутая линия без границы 6">
            <a:extLst>
              <a:ext uri="{FF2B5EF4-FFF2-40B4-BE49-F238E27FC236}">
                <a16:creationId xmlns:a16="http://schemas.microsoft.com/office/drawing/2014/main" id="{BE427671-728D-7530-C6E0-479FF86C3839}"/>
              </a:ext>
            </a:extLst>
          </p:cNvPr>
          <p:cNvSpPr/>
          <p:nvPr/>
        </p:nvSpPr>
        <p:spPr>
          <a:xfrm>
            <a:off x="7192297" y="2477730"/>
            <a:ext cx="2517058" cy="1219200"/>
          </a:xfrm>
          <a:prstGeom prst="callout3">
            <a:avLst>
              <a:gd name="adj1" fmla="val 21282"/>
              <a:gd name="adj2" fmla="val 101079"/>
              <a:gd name="adj3" fmla="val 21915"/>
              <a:gd name="adj4" fmla="val 130000"/>
              <a:gd name="adj5" fmla="val 264128"/>
              <a:gd name="adj6" fmla="val 129999"/>
              <a:gd name="adj7" fmla="val 263974"/>
              <a:gd name="adj8" fmla="val 1006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В 1921 году переехал в </a:t>
            </a:r>
            <a:r>
              <a:rPr lang="ru-RU" b="1" dirty="0">
                <a:solidFill>
                  <a:schemeClr val="bg1"/>
                </a:solidFill>
              </a:rPr>
              <a:t>Болгарию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Выноска: линия с чертой 8">
            <a:extLst>
              <a:ext uri="{FF2B5EF4-FFF2-40B4-BE49-F238E27FC236}">
                <a16:creationId xmlns:a16="http://schemas.microsoft.com/office/drawing/2014/main" id="{CFA4C391-0C08-E46B-3C19-9358BAC0BCB5}"/>
              </a:ext>
            </a:extLst>
          </p:cNvPr>
          <p:cNvSpPr/>
          <p:nvPr/>
        </p:nvSpPr>
        <p:spPr>
          <a:xfrm>
            <a:off x="7192297" y="5088194"/>
            <a:ext cx="2517058" cy="1219200"/>
          </a:xfrm>
          <a:prstGeom prst="accentCallout1">
            <a:avLst>
              <a:gd name="adj1" fmla="val 51814"/>
              <a:gd name="adj2" fmla="val -1915"/>
              <a:gd name="adj3" fmla="val 52823"/>
              <a:gd name="adj4" fmla="val -1004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Во время Второй мировой войны находился во </a:t>
            </a:r>
            <a:r>
              <a:rPr lang="ru-RU" b="1" dirty="0">
                <a:solidFill>
                  <a:schemeClr val="bg1"/>
                </a:solidFill>
              </a:rPr>
              <a:t>Франции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64767E-B460-3A91-DD95-4DC28BB6B74F}"/>
              </a:ext>
            </a:extLst>
          </p:cNvPr>
          <p:cNvSpPr/>
          <p:nvPr/>
        </p:nvSpPr>
        <p:spPr>
          <a:xfrm>
            <a:off x="1681316" y="5088194"/>
            <a:ext cx="2959510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После войны, опасаясь выдачи СССР, эмигрировал в </a:t>
            </a:r>
            <a:r>
              <a:rPr lang="ru-RU" b="1" dirty="0">
                <a:solidFill>
                  <a:schemeClr val="bg1"/>
                </a:solidFill>
              </a:rPr>
              <a:t>США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43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AC107-D843-0BF6-A8ED-6C47695D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FD95C4C0-689D-1BAD-04CA-B57E352DF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9FB5C0-5CA0-E40C-97AA-790E701BF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25395FDC-A16A-D7B8-3196-21998A236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944" cy="6858000"/>
          </a:xfrm>
          <a:custGeom>
            <a:avLst/>
            <a:gdLst>
              <a:gd name="connsiteX0" fmla="*/ 0 w 7552944"/>
              <a:gd name="connsiteY0" fmla="*/ 0 h 6858000"/>
              <a:gd name="connsiteX1" fmla="*/ 1067477 w 7552944"/>
              <a:gd name="connsiteY1" fmla="*/ 0 h 6858000"/>
              <a:gd name="connsiteX2" fmla="*/ 2201779 w 7552944"/>
              <a:gd name="connsiteY2" fmla="*/ 0 h 6858000"/>
              <a:gd name="connsiteX3" fmla="*/ 7552944 w 7552944"/>
              <a:gd name="connsiteY3" fmla="*/ 0 h 6858000"/>
              <a:gd name="connsiteX4" fmla="*/ 7552944 w 7552944"/>
              <a:gd name="connsiteY4" fmla="*/ 1900238 h 6858000"/>
              <a:gd name="connsiteX5" fmla="*/ 7182528 w 7552944"/>
              <a:gd name="connsiteY5" fmla="*/ 2178050 h 6858000"/>
              <a:gd name="connsiteX6" fmla="*/ 7178294 w 7552944"/>
              <a:gd name="connsiteY6" fmla="*/ 2184400 h 6858000"/>
              <a:gd name="connsiteX7" fmla="*/ 7171944 w 7552944"/>
              <a:gd name="connsiteY7" fmla="*/ 2193925 h 6858000"/>
              <a:gd name="connsiteX8" fmla="*/ 7165594 w 7552944"/>
              <a:gd name="connsiteY8" fmla="*/ 2201863 h 6858000"/>
              <a:gd name="connsiteX9" fmla="*/ 7165594 w 7552944"/>
              <a:gd name="connsiteY9" fmla="*/ 2211388 h 6858000"/>
              <a:gd name="connsiteX10" fmla="*/ 7165594 w 7552944"/>
              <a:gd name="connsiteY10" fmla="*/ 2220913 h 6858000"/>
              <a:gd name="connsiteX11" fmla="*/ 7171944 w 7552944"/>
              <a:gd name="connsiteY11" fmla="*/ 2228850 h 6858000"/>
              <a:gd name="connsiteX12" fmla="*/ 7178294 w 7552944"/>
              <a:gd name="connsiteY12" fmla="*/ 2238375 h 6858000"/>
              <a:gd name="connsiteX13" fmla="*/ 7182528 w 7552944"/>
              <a:gd name="connsiteY13" fmla="*/ 2244725 h 6858000"/>
              <a:gd name="connsiteX14" fmla="*/ 7552944 w 7552944"/>
              <a:gd name="connsiteY14" fmla="*/ 2522538 h 6858000"/>
              <a:gd name="connsiteX15" fmla="*/ 7552944 w 7552944"/>
              <a:gd name="connsiteY15" fmla="*/ 6858000 h 6858000"/>
              <a:gd name="connsiteX16" fmla="*/ 2201779 w 7552944"/>
              <a:gd name="connsiteY16" fmla="*/ 6858000 h 6858000"/>
              <a:gd name="connsiteX17" fmla="*/ 1067477 w 7552944"/>
              <a:gd name="connsiteY17" fmla="*/ 6858000 h 6858000"/>
              <a:gd name="connsiteX18" fmla="*/ 0 w 7552944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552944" h="6858000">
                <a:moveTo>
                  <a:pt x="0" y="0"/>
                </a:moveTo>
                <a:lnTo>
                  <a:pt x="1067477" y="0"/>
                </a:lnTo>
                <a:lnTo>
                  <a:pt x="2201779" y="0"/>
                </a:lnTo>
                <a:lnTo>
                  <a:pt x="7552944" y="0"/>
                </a:lnTo>
                <a:lnTo>
                  <a:pt x="7552944" y="1900238"/>
                </a:lnTo>
                <a:lnTo>
                  <a:pt x="7182528" y="2178050"/>
                </a:lnTo>
                <a:lnTo>
                  <a:pt x="7178294" y="2184400"/>
                </a:lnTo>
                <a:lnTo>
                  <a:pt x="7171944" y="2193925"/>
                </a:lnTo>
                <a:lnTo>
                  <a:pt x="7165594" y="2201863"/>
                </a:lnTo>
                <a:lnTo>
                  <a:pt x="7165594" y="2211388"/>
                </a:lnTo>
                <a:lnTo>
                  <a:pt x="7165594" y="2220913"/>
                </a:lnTo>
                <a:lnTo>
                  <a:pt x="7171944" y="2228850"/>
                </a:lnTo>
                <a:lnTo>
                  <a:pt x="7178294" y="2238375"/>
                </a:lnTo>
                <a:lnTo>
                  <a:pt x="7182528" y="2244725"/>
                </a:lnTo>
                <a:lnTo>
                  <a:pt x="7552944" y="2522538"/>
                </a:lnTo>
                <a:lnTo>
                  <a:pt x="7552944" y="6858000"/>
                </a:lnTo>
                <a:lnTo>
                  <a:pt x="2201779" y="6858000"/>
                </a:lnTo>
                <a:lnTo>
                  <a:pt x="1067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1C0C5-EDEE-0ED4-2C7F-0F73829F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232133"/>
            <a:ext cx="6170903" cy="15594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3600" dirty="0" err="1"/>
              <a:t>Авсенев</a:t>
            </a:r>
            <a:r>
              <a:rPr lang="ru-RU" sz="3600" dirty="0"/>
              <a:t> Петр Семенович</a:t>
            </a:r>
            <a:br>
              <a:rPr lang="en-US" dirty="0"/>
            </a:br>
            <a:r>
              <a:rPr lang="ru-RU" sz="1800" b="0" i="1" dirty="0"/>
              <a:t>Архитектор, инженер</a:t>
            </a:r>
            <a:br>
              <a:rPr lang="ru-RU" sz="1600" b="0" i="1" dirty="0"/>
            </a:br>
            <a:r>
              <a:rPr lang="ru-RU" sz="1600" dirty="0"/>
              <a:t>Место захоронения: </a:t>
            </a:r>
            <a:r>
              <a:rPr lang="ru-RU" sz="1600" b="0" dirty="0"/>
              <a:t>Рим</a:t>
            </a:r>
            <a:endParaRPr lang="en-US" sz="4000" b="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1D9373-2616-3C2A-B0F5-7F9C48AFC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000" y="2393818"/>
            <a:ext cx="6075179" cy="1332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Петр Семенович </a:t>
            </a:r>
            <a:r>
              <a:rPr lang="ru-RU" dirty="0" err="1">
                <a:solidFill>
                  <a:schemeClr val="bg1"/>
                </a:solidFill>
              </a:rPr>
              <a:t>Авсенев</a:t>
            </a:r>
            <a:r>
              <a:rPr lang="ru-RU" dirty="0">
                <a:solidFill>
                  <a:schemeClr val="bg1"/>
                </a:solidFill>
              </a:rPr>
              <a:t> родился в Воронеже. Представитель дореволюционной русской инженерно-архитектурной школы. Получил классическое образование, работал архитектором и инженером в Российской империи. Был специалистом в области строительства и проектирования.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F2694C01-47D5-5CCB-D3D2-14DC5C136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746" y="958640"/>
            <a:ext cx="335479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78A40D7-7586-BD87-319B-618A95648E59}"/>
              </a:ext>
            </a:extLst>
          </p:cNvPr>
          <p:cNvSpPr txBox="1">
            <a:spLocks/>
          </p:cNvSpPr>
          <p:nvPr/>
        </p:nvSpPr>
        <p:spPr>
          <a:xfrm>
            <a:off x="8503605" y="4983082"/>
            <a:ext cx="2735071" cy="54176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1810-1852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58F0B22-AF2E-514D-E28B-55649D520ADB}"/>
              </a:ext>
            </a:extLst>
          </p:cNvPr>
          <p:cNvSpPr txBox="1">
            <a:spLocks/>
          </p:cNvSpPr>
          <p:nvPr/>
        </p:nvSpPr>
        <p:spPr>
          <a:xfrm>
            <a:off x="727493" y="1839603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Краткая биография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4D2FBF9F-369B-1E4D-3E88-AED4304A62DD}"/>
              </a:ext>
            </a:extLst>
          </p:cNvPr>
          <p:cNvSpPr txBox="1">
            <a:spLocks/>
          </p:cNvSpPr>
          <p:nvPr/>
        </p:nvSpPr>
        <p:spPr>
          <a:xfrm>
            <a:off x="810000" y="4282434"/>
            <a:ext cx="6075179" cy="202004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solidFill>
                  <a:schemeClr val="bg1"/>
                </a:solidFill>
              </a:rPr>
              <a:t>Как представитель технической интеллигенции и профессионал высокого класса, </a:t>
            </a:r>
            <a:r>
              <a:rPr lang="ru-RU" dirty="0" err="1">
                <a:solidFill>
                  <a:schemeClr val="bg1"/>
                </a:solidFill>
              </a:rPr>
              <a:t>Авсенев</a:t>
            </a:r>
            <a:r>
              <a:rPr lang="ru-RU" dirty="0">
                <a:solidFill>
                  <a:schemeClr val="bg1"/>
                </a:solidFill>
              </a:rPr>
              <a:t> не мог найти применения своим знаниям в условиях разрухи послереволюционной России и идеологического давления новой власти. Покинул Россию после революции, стремясь продолжить профессиональную деятельность за рубежом. Эмиграция носила экономический и профессиональный характер — за границей были возможности для реализации архитектурных проектов.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7518CC35-1C0C-EFBA-D27C-77A4D3FD2A98}"/>
              </a:ext>
            </a:extLst>
          </p:cNvPr>
          <p:cNvSpPr txBox="1">
            <a:spLocks/>
          </p:cNvSpPr>
          <p:nvPr/>
        </p:nvSpPr>
        <p:spPr>
          <a:xfrm>
            <a:off x="727493" y="3723977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Причины эмиграции</a:t>
            </a:r>
          </a:p>
        </p:txBody>
      </p:sp>
      <p:pic>
        <p:nvPicPr>
          <p:cNvPr id="5" name="Рисунок 4" descr="Изображение выглядит как Борода человека, Человеческое лицо, человек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4A24D0-C7B4-A2BA-3ACE-FB684406C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966" y="1512347"/>
            <a:ext cx="3004034" cy="326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61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47B1-703A-4A34-6C92-C0B9E266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134AE-8082-C511-8CB6-6E9744C8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Страны проживания</a:t>
            </a:r>
            <a:endParaRPr lang="ru-RU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3FBD4C62-2CC8-0E59-44F2-97DBAE4676ED}"/>
              </a:ext>
            </a:extLst>
          </p:cNvPr>
          <p:cNvSpPr txBox="1">
            <a:spLocks/>
          </p:cNvSpPr>
          <p:nvPr/>
        </p:nvSpPr>
        <p:spPr>
          <a:xfrm>
            <a:off x="1188542" y="2462644"/>
            <a:ext cx="9814914" cy="3131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/>
              <a:t>После эмиграции обосновался в </a:t>
            </a:r>
            <a:r>
              <a:rPr lang="ru-RU" sz="2400" b="1" dirty="0"/>
              <a:t>Италии</a:t>
            </a:r>
            <a:r>
              <a:rPr lang="ru-RU" sz="2400" dirty="0"/>
              <a:t>. Как и многие русские эмигранты-специалисты, нашел применение своим профессиональным навыкам в европейских странах. Работал над архитектурными проектами, возможно, участвовал в реставрации исторических зданий. Италия с ее богатым архитектурным наследием привлекала многих русских архитекторов и инженеров.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80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3F7BC-2DA1-3ABE-0590-E06ECE26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756B057F-675C-F778-08CD-9E2C4A061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B5D1C4-A539-5C43-F311-37BBA365E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9C6AD57B-373C-F5DF-4204-363BD96CD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944" cy="6858000"/>
          </a:xfrm>
          <a:custGeom>
            <a:avLst/>
            <a:gdLst>
              <a:gd name="connsiteX0" fmla="*/ 0 w 7552944"/>
              <a:gd name="connsiteY0" fmla="*/ 0 h 6858000"/>
              <a:gd name="connsiteX1" fmla="*/ 1067477 w 7552944"/>
              <a:gd name="connsiteY1" fmla="*/ 0 h 6858000"/>
              <a:gd name="connsiteX2" fmla="*/ 2201779 w 7552944"/>
              <a:gd name="connsiteY2" fmla="*/ 0 h 6858000"/>
              <a:gd name="connsiteX3" fmla="*/ 7552944 w 7552944"/>
              <a:gd name="connsiteY3" fmla="*/ 0 h 6858000"/>
              <a:gd name="connsiteX4" fmla="*/ 7552944 w 7552944"/>
              <a:gd name="connsiteY4" fmla="*/ 1900238 h 6858000"/>
              <a:gd name="connsiteX5" fmla="*/ 7182528 w 7552944"/>
              <a:gd name="connsiteY5" fmla="*/ 2178050 h 6858000"/>
              <a:gd name="connsiteX6" fmla="*/ 7178294 w 7552944"/>
              <a:gd name="connsiteY6" fmla="*/ 2184400 h 6858000"/>
              <a:gd name="connsiteX7" fmla="*/ 7171944 w 7552944"/>
              <a:gd name="connsiteY7" fmla="*/ 2193925 h 6858000"/>
              <a:gd name="connsiteX8" fmla="*/ 7165594 w 7552944"/>
              <a:gd name="connsiteY8" fmla="*/ 2201863 h 6858000"/>
              <a:gd name="connsiteX9" fmla="*/ 7165594 w 7552944"/>
              <a:gd name="connsiteY9" fmla="*/ 2211388 h 6858000"/>
              <a:gd name="connsiteX10" fmla="*/ 7165594 w 7552944"/>
              <a:gd name="connsiteY10" fmla="*/ 2220913 h 6858000"/>
              <a:gd name="connsiteX11" fmla="*/ 7171944 w 7552944"/>
              <a:gd name="connsiteY11" fmla="*/ 2228850 h 6858000"/>
              <a:gd name="connsiteX12" fmla="*/ 7178294 w 7552944"/>
              <a:gd name="connsiteY12" fmla="*/ 2238375 h 6858000"/>
              <a:gd name="connsiteX13" fmla="*/ 7182528 w 7552944"/>
              <a:gd name="connsiteY13" fmla="*/ 2244725 h 6858000"/>
              <a:gd name="connsiteX14" fmla="*/ 7552944 w 7552944"/>
              <a:gd name="connsiteY14" fmla="*/ 2522538 h 6858000"/>
              <a:gd name="connsiteX15" fmla="*/ 7552944 w 7552944"/>
              <a:gd name="connsiteY15" fmla="*/ 6858000 h 6858000"/>
              <a:gd name="connsiteX16" fmla="*/ 2201779 w 7552944"/>
              <a:gd name="connsiteY16" fmla="*/ 6858000 h 6858000"/>
              <a:gd name="connsiteX17" fmla="*/ 1067477 w 7552944"/>
              <a:gd name="connsiteY17" fmla="*/ 6858000 h 6858000"/>
              <a:gd name="connsiteX18" fmla="*/ 0 w 7552944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552944" h="6858000">
                <a:moveTo>
                  <a:pt x="0" y="0"/>
                </a:moveTo>
                <a:lnTo>
                  <a:pt x="1067477" y="0"/>
                </a:lnTo>
                <a:lnTo>
                  <a:pt x="2201779" y="0"/>
                </a:lnTo>
                <a:lnTo>
                  <a:pt x="7552944" y="0"/>
                </a:lnTo>
                <a:lnTo>
                  <a:pt x="7552944" y="1900238"/>
                </a:lnTo>
                <a:lnTo>
                  <a:pt x="7182528" y="2178050"/>
                </a:lnTo>
                <a:lnTo>
                  <a:pt x="7178294" y="2184400"/>
                </a:lnTo>
                <a:lnTo>
                  <a:pt x="7171944" y="2193925"/>
                </a:lnTo>
                <a:lnTo>
                  <a:pt x="7165594" y="2201863"/>
                </a:lnTo>
                <a:lnTo>
                  <a:pt x="7165594" y="2211388"/>
                </a:lnTo>
                <a:lnTo>
                  <a:pt x="7165594" y="2220913"/>
                </a:lnTo>
                <a:lnTo>
                  <a:pt x="7171944" y="2228850"/>
                </a:lnTo>
                <a:lnTo>
                  <a:pt x="7178294" y="2238375"/>
                </a:lnTo>
                <a:lnTo>
                  <a:pt x="7182528" y="2244725"/>
                </a:lnTo>
                <a:lnTo>
                  <a:pt x="7552944" y="2522538"/>
                </a:lnTo>
                <a:lnTo>
                  <a:pt x="7552944" y="6858000"/>
                </a:lnTo>
                <a:lnTo>
                  <a:pt x="2201779" y="6858000"/>
                </a:lnTo>
                <a:lnTo>
                  <a:pt x="1067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FCAE2-832B-DF4F-E25D-F10CDB68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232133"/>
            <a:ext cx="6170903" cy="15594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2700" dirty="0"/>
              <a:t>Агафонов Валериан Константинович</a:t>
            </a:r>
            <a:br>
              <a:rPr lang="en-US" dirty="0"/>
            </a:br>
            <a:r>
              <a:rPr lang="ru-RU" sz="1800" b="0" i="1" dirty="0"/>
              <a:t>Ученый (геолог, почвовед), писатель</a:t>
            </a:r>
            <a:br>
              <a:rPr lang="ru-RU" sz="1600" b="0" i="1" dirty="0"/>
            </a:br>
            <a:r>
              <a:rPr lang="ru-RU" sz="1600" dirty="0"/>
              <a:t>Место захоронения: </a:t>
            </a:r>
            <a:r>
              <a:rPr lang="ru-RU" sz="1600" b="0" dirty="0"/>
              <a:t>Ницца</a:t>
            </a:r>
            <a:endParaRPr lang="en-US" sz="4000" b="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C386EA-B469-A201-9DC2-A600034A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000" y="2393817"/>
            <a:ext cx="6075179" cy="1988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Выдающийся русский ученый, почвовед и геолог. Родился в Лесном (под Санкт-Петербургом). Из-за смерти матери и необходимости содержать парализованного отца досрочно оставил гимназию и пошел работать. Позже, сдав экстерном экзамены, поступил в Петербургский университет. Одновременно с учебой играл в театре, стал популярным артистом, но оставил сцену ради науки. Профессор Таврического университета (1918-1920).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A16BBAE7-3A06-CE5A-B613-526D1435D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746" y="958640"/>
            <a:ext cx="335479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32B264F-11AE-F771-4CB3-D96F500364F1}"/>
              </a:ext>
            </a:extLst>
          </p:cNvPr>
          <p:cNvSpPr txBox="1">
            <a:spLocks/>
          </p:cNvSpPr>
          <p:nvPr/>
        </p:nvSpPr>
        <p:spPr>
          <a:xfrm>
            <a:off x="8503605" y="4983082"/>
            <a:ext cx="2735071" cy="54176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1863-1955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DC8246-7C48-1F5F-6E84-2803D7AB43A2}"/>
              </a:ext>
            </a:extLst>
          </p:cNvPr>
          <p:cNvSpPr txBox="1">
            <a:spLocks/>
          </p:cNvSpPr>
          <p:nvPr/>
        </p:nvSpPr>
        <p:spPr>
          <a:xfrm>
            <a:off x="727493" y="1839603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Краткая биография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D32DAF6B-6B8A-6165-D0F8-1B8562796D12}"/>
              </a:ext>
            </a:extLst>
          </p:cNvPr>
          <p:cNvSpPr txBox="1">
            <a:spLocks/>
          </p:cNvSpPr>
          <p:nvPr/>
        </p:nvSpPr>
        <p:spPr>
          <a:xfrm>
            <a:off x="810000" y="4776907"/>
            <a:ext cx="6075179" cy="163994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solidFill>
                  <a:schemeClr val="bg1"/>
                </a:solidFill>
              </a:rPr>
              <a:t>Как представитель научной интеллигенции и профессор университета, Агафонов столкнулся с невозможностью продолжать научную деятельность в условиях Гражданской войны и новых идеологических требований советской власти. Покинул Россию после 1920 года, когда стало ясно, что возврата к прежней академической свободе не будет.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D19814B-C004-948C-D34C-C4BB58E3C28B}"/>
              </a:ext>
            </a:extLst>
          </p:cNvPr>
          <p:cNvSpPr txBox="1">
            <a:spLocks/>
          </p:cNvSpPr>
          <p:nvPr/>
        </p:nvSpPr>
        <p:spPr>
          <a:xfrm>
            <a:off x="724015" y="4220380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Причины эмиграции</a:t>
            </a:r>
          </a:p>
        </p:txBody>
      </p:sp>
      <p:pic>
        <p:nvPicPr>
          <p:cNvPr id="6" name="Рисунок 5" descr="Изображение выглядит как Человеческое лицо, портрет, одежда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09571B-2A67-4397-6656-A9207DE33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882" y="1514908"/>
            <a:ext cx="3043118" cy="337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30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F912-027B-69D5-345A-F98AA405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4C3BA-259A-A1A8-2ED1-FB79F445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Страны проживания</a:t>
            </a:r>
            <a:endParaRPr lang="ru-RU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8690AE8E-6985-CC2D-BFDE-481EBCF04BE1}"/>
              </a:ext>
            </a:extLst>
          </p:cNvPr>
          <p:cNvSpPr txBox="1">
            <a:spLocks/>
          </p:cNvSpPr>
          <p:nvPr/>
        </p:nvSpPr>
        <p:spPr>
          <a:xfrm>
            <a:off x="1188542" y="2462644"/>
            <a:ext cx="9814914" cy="3131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/>
              <a:t>После эмиграции обосновался во </a:t>
            </a:r>
            <a:r>
              <a:rPr lang="ru-RU" sz="2400" b="1" dirty="0"/>
              <a:t>Франции</a:t>
            </a:r>
            <a:r>
              <a:rPr lang="ru-RU" sz="2400" dirty="0"/>
              <a:t>. Жил на Лазурном берегу в городе Ницца, который был популярен среди русских эмигрантов благодаря мягкому климату и наличию русской общины. В эмиграции продолжал научную и литературную деятельность, писал мемуары, в том числе известную книгу о царской охранке «Парижские тайны царской охранки». Прожил долгую жизнь, дожив до 92 лет.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9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6B760-1CA3-6BA5-30C2-8BBB72DC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31E1D318-6EF6-9229-115C-8C04A05E2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F2CC5A-32D9-4DA4-71D7-93C02851F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93FAF57B-32C3-6C60-2116-FB125A818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944" cy="6858000"/>
          </a:xfrm>
          <a:custGeom>
            <a:avLst/>
            <a:gdLst>
              <a:gd name="connsiteX0" fmla="*/ 0 w 7552944"/>
              <a:gd name="connsiteY0" fmla="*/ 0 h 6858000"/>
              <a:gd name="connsiteX1" fmla="*/ 1067477 w 7552944"/>
              <a:gd name="connsiteY1" fmla="*/ 0 h 6858000"/>
              <a:gd name="connsiteX2" fmla="*/ 2201779 w 7552944"/>
              <a:gd name="connsiteY2" fmla="*/ 0 h 6858000"/>
              <a:gd name="connsiteX3" fmla="*/ 7552944 w 7552944"/>
              <a:gd name="connsiteY3" fmla="*/ 0 h 6858000"/>
              <a:gd name="connsiteX4" fmla="*/ 7552944 w 7552944"/>
              <a:gd name="connsiteY4" fmla="*/ 1900238 h 6858000"/>
              <a:gd name="connsiteX5" fmla="*/ 7182528 w 7552944"/>
              <a:gd name="connsiteY5" fmla="*/ 2178050 h 6858000"/>
              <a:gd name="connsiteX6" fmla="*/ 7178294 w 7552944"/>
              <a:gd name="connsiteY6" fmla="*/ 2184400 h 6858000"/>
              <a:gd name="connsiteX7" fmla="*/ 7171944 w 7552944"/>
              <a:gd name="connsiteY7" fmla="*/ 2193925 h 6858000"/>
              <a:gd name="connsiteX8" fmla="*/ 7165594 w 7552944"/>
              <a:gd name="connsiteY8" fmla="*/ 2201863 h 6858000"/>
              <a:gd name="connsiteX9" fmla="*/ 7165594 w 7552944"/>
              <a:gd name="connsiteY9" fmla="*/ 2211388 h 6858000"/>
              <a:gd name="connsiteX10" fmla="*/ 7165594 w 7552944"/>
              <a:gd name="connsiteY10" fmla="*/ 2220913 h 6858000"/>
              <a:gd name="connsiteX11" fmla="*/ 7171944 w 7552944"/>
              <a:gd name="connsiteY11" fmla="*/ 2228850 h 6858000"/>
              <a:gd name="connsiteX12" fmla="*/ 7178294 w 7552944"/>
              <a:gd name="connsiteY12" fmla="*/ 2238375 h 6858000"/>
              <a:gd name="connsiteX13" fmla="*/ 7182528 w 7552944"/>
              <a:gd name="connsiteY13" fmla="*/ 2244725 h 6858000"/>
              <a:gd name="connsiteX14" fmla="*/ 7552944 w 7552944"/>
              <a:gd name="connsiteY14" fmla="*/ 2522538 h 6858000"/>
              <a:gd name="connsiteX15" fmla="*/ 7552944 w 7552944"/>
              <a:gd name="connsiteY15" fmla="*/ 6858000 h 6858000"/>
              <a:gd name="connsiteX16" fmla="*/ 2201779 w 7552944"/>
              <a:gd name="connsiteY16" fmla="*/ 6858000 h 6858000"/>
              <a:gd name="connsiteX17" fmla="*/ 1067477 w 7552944"/>
              <a:gd name="connsiteY17" fmla="*/ 6858000 h 6858000"/>
              <a:gd name="connsiteX18" fmla="*/ 0 w 7552944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552944" h="6858000">
                <a:moveTo>
                  <a:pt x="0" y="0"/>
                </a:moveTo>
                <a:lnTo>
                  <a:pt x="1067477" y="0"/>
                </a:lnTo>
                <a:lnTo>
                  <a:pt x="2201779" y="0"/>
                </a:lnTo>
                <a:lnTo>
                  <a:pt x="7552944" y="0"/>
                </a:lnTo>
                <a:lnTo>
                  <a:pt x="7552944" y="1900238"/>
                </a:lnTo>
                <a:lnTo>
                  <a:pt x="7182528" y="2178050"/>
                </a:lnTo>
                <a:lnTo>
                  <a:pt x="7178294" y="2184400"/>
                </a:lnTo>
                <a:lnTo>
                  <a:pt x="7171944" y="2193925"/>
                </a:lnTo>
                <a:lnTo>
                  <a:pt x="7165594" y="2201863"/>
                </a:lnTo>
                <a:lnTo>
                  <a:pt x="7165594" y="2211388"/>
                </a:lnTo>
                <a:lnTo>
                  <a:pt x="7165594" y="2220913"/>
                </a:lnTo>
                <a:lnTo>
                  <a:pt x="7171944" y="2228850"/>
                </a:lnTo>
                <a:lnTo>
                  <a:pt x="7178294" y="2238375"/>
                </a:lnTo>
                <a:lnTo>
                  <a:pt x="7182528" y="2244725"/>
                </a:lnTo>
                <a:lnTo>
                  <a:pt x="7552944" y="2522538"/>
                </a:lnTo>
                <a:lnTo>
                  <a:pt x="7552944" y="6858000"/>
                </a:lnTo>
                <a:lnTo>
                  <a:pt x="2201779" y="6858000"/>
                </a:lnTo>
                <a:lnTo>
                  <a:pt x="1067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831C5-83AE-D532-6BF0-3BD5B748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232133"/>
            <a:ext cx="6170903" cy="15594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3100" dirty="0"/>
              <a:t>Ананьин Евгений Аркадьевич</a:t>
            </a:r>
            <a:br>
              <a:rPr lang="en-US" dirty="0"/>
            </a:br>
            <a:r>
              <a:rPr lang="ru-RU" b="0" i="1" dirty="0"/>
              <a:t>Художник, живописец</a:t>
            </a:r>
            <a:br>
              <a:rPr lang="ru-RU" sz="1600" b="0" i="1" dirty="0"/>
            </a:br>
            <a:r>
              <a:rPr lang="ru-RU" sz="1600" dirty="0"/>
              <a:t>Место захоронения: </a:t>
            </a:r>
            <a:r>
              <a:rPr lang="ru-RU" sz="1600" b="0" dirty="0" err="1"/>
              <a:t>Маргера</a:t>
            </a:r>
            <a:r>
              <a:rPr lang="ru-RU" sz="1600" b="0" dirty="0"/>
              <a:t> (пригород Венеции)</a:t>
            </a:r>
            <a:endParaRPr lang="en-US" sz="4000" b="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62AA63-4A99-A17F-DF9E-26842092F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000" y="2393817"/>
            <a:ext cx="6075179" cy="17318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Евгений Аркадьевич Ананьин родился в Санкт-Петербурге. Представитель петербургской художественной школы, получил академическое художественное образование в столице Российской империи. Работал как живописец, создавал картины в различных жанрах. Был частью культурной среды дореволюционного Петербурга, где процветало изобразительное искусство.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B4282040-6247-24FF-9813-30A6C6606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746" y="958640"/>
            <a:ext cx="335479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937C011-D52D-8F45-699F-DC53463B7C83}"/>
              </a:ext>
            </a:extLst>
          </p:cNvPr>
          <p:cNvSpPr txBox="1">
            <a:spLocks/>
          </p:cNvSpPr>
          <p:nvPr/>
        </p:nvSpPr>
        <p:spPr>
          <a:xfrm>
            <a:off x="8503605" y="4983082"/>
            <a:ext cx="2735071" cy="54176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400" dirty="0">
                <a:solidFill>
                  <a:schemeClr val="tx1"/>
                </a:solidFill>
              </a:rPr>
              <a:t>1884-1965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D657A42-8F58-983E-88DF-198C3F543239}"/>
              </a:ext>
            </a:extLst>
          </p:cNvPr>
          <p:cNvSpPr txBox="1">
            <a:spLocks/>
          </p:cNvSpPr>
          <p:nvPr/>
        </p:nvSpPr>
        <p:spPr>
          <a:xfrm>
            <a:off x="727493" y="1839603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Краткая биография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F724C48A-C084-866B-387C-48A7C91CD128}"/>
              </a:ext>
            </a:extLst>
          </p:cNvPr>
          <p:cNvSpPr txBox="1">
            <a:spLocks/>
          </p:cNvSpPr>
          <p:nvPr/>
        </p:nvSpPr>
        <p:spPr>
          <a:xfrm>
            <a:off x="810000" y="4628818"/>
            <a:ext cx="6075179" cy="190963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solidFill>
                  <a:schemeClr val="bg1"/>
                </a:solidFill>
              </a:rPr>
              <a:t>Как представитель художественной интеллигенции, Ананьин столкнулся с кардинальными изменениями в культурной политике после революции. Советская власть устанавливала жесткий идеологический контроль над искусством, а многие художники академической школы оказались невостребованными. Покинул Россию, чтобы сохранить творческую свободу и возможность работать в традициях классической русской живописи без идеологических ограничений.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50C45027-779F-173F-B1BC-EEF5392B219B}"/>
              </a:ext>
            </a:extLst>
          </p:cNvPr>
          <p:cNvSpPr txBox="1">
            <a:spLocks/>
          </p:cNvSpPr>
          <p:nvPr/>
        </p:nvSpPr>
        <p:spPr>
          <a:xfrm>
            <a:off x="727493" y="4025591"/>
            <a:ext cx="6097955" cy="603227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Причины эмиграции</a:t>
            </a:r>
          </a:p>
        </p:txBody>
      </p:sp>
      <p:pic>
        <p:nvPicPr>
          <p:cNvPr id="5" name="Рисунок 4" descr="Изображение выглядит как Человеческое лицо, портрет, человек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AFDE3A-6457-8C05-3F54-0C6BAE7C4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876" y="1636578"/>
            <a:ext cx="3090143" cy="31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68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22D6-5B70-BE84-57C6-B51FE44F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587C1-3BB5-A08F-594E-9DCF2FD90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Страны проживания</a:t>
            </a:r>
            <a:endParaRPr lang="ru-RU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DD0BBC98-249E-755C-7E76-49ED4112D92F}"/>
              </a:ext>
            </a:extLst>
          </p:cNvPr>
          <p:cNvSpPr txBox="1">
            <a:spLocks/>
          </p:cNvSpPr>
          <p:nvPr/>
        </p:nvSpPr>
        <p:spPr>
          <a:xfrm>
            <a:off x="1759393" y="2865768"/>
            <a:ext cx="8673212" cy="2473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dirty="0"/>
              <a:t>Как представитель художественной интеллигенции, Ананьин столкнулся с кардинальными изменениями в культурной политике после революции. Советская власть устанавливала жесткий идеологический контроль над искусством, а многие художники академической школы оказались невостребованными. Покинул Россию, чтобы сохранить творческую свободу и возможность работать в традициях классической русской живописи без идеологических ограничений.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40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52</TotalTime>
  <Words>688</Words>
  <Application>Microsoft Office PowerPoint</Application>
  <PresentationFormat>Широкоэкранный</PresentationFormat>
  <Paragraphs>36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Century Gothic</vt:lpstr>
      <vt:lpstr>Wingdings</vt:lpstr>
      <vt:lpstr>Wingdings 2</vt:lpstr>
      <vt:lpstr>Цитаты</vt:lpstr>
      <vt:lpstr>Русская эмиграция первой волны (1917-1941)</vt:lpstr>
      <vt:lpstr>Абрамов Федор Федорович Генерал-лейтенант, военный деятель Место захоронения: Свято-Владимирское кладбище в Джексоне,       штат Нью-Джерси</vt:lpstr>
      <vt:lpstr>Страны проживания</vt:lpstr>
      <vt:lpstr>Авсенев Петр Семенович Архитектор, инженер Место захоронения: Рим</vt:lpstr>
      <vt:lpstr>Страны проживания</vt:lpstr>
      <vt:lpstr>Агафонов Валериан Константинович Ученый (геолог, почвовед), писатель Место захоронения: Ницца</vt:lpstr>
      <vt:lpstr>Страны проживания</vt:lpstr>
      <vt:lpstr>Ананьин Евгений Аркадьевич Художник, живописец Место захоронения: Маргера (пригород Венеции)</vt:lpstr>
      <vt:lpstr>Страны проживания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Васидов Мухаммадсаид Абдуфаттохович</dc:creator>
  <cp:lastModifiedBy>Васидов Мухаммадсаид Абдуфаттохович</cp:lastModifiedBy>
  <cp:revision>1</cp:revision>
  <dcterms:created xsi:type="dcterms:W3CDTF">2025-11-15T19:43:35Z</dcterms:created>
  <dcterms:modified xsi:type="dcterms:W3CDTF">2025-11-15T20:36:31Z</dcterms:modified>
</cp:coreProperties>
</file>