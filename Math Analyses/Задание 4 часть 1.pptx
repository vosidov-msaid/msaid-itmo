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7"/>
  </p:notesMasterIdLst>
  <p:handoutMasterIdLst>
    <p:handoutMasterId r:id="rId28"/>
  </p:handoutMasterIdLst>
  <p:sldIdLst>
    <p:sldId id="410" r:id="rId5"/>
    <p:sldId id="413" r:id="rId6"/>
    <p:sldId id="415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970790C-0A43-43D0-B2CF-7CFEAEF3174C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2C230DF-5933-439D-898F-38E9AC9BA68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481CF219-5CA9-4DD1-8040-7BA03D0E024E}" type="datetime1">
              <a:rPr lang="ru-RU" smtClean="0"/>
              <a:pPr/>
              <a:t>25.12.2025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A89C7E07-3C67-C64C-8DA0-0404F63039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Автофигура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 spc="50" baseline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ru-RU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3" name="Номер слайда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2" name="Дата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Полилиния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9436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Автофигура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8" name="Полилиния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9" name="Полилиния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ru-RU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ru-RU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ru-RU" sz="2000"/>
            </a:lvl3pPr>
            <a:lvl4pPr marL="1371600" indent="0">
              <a:spcBef>
                <a:spcPts val="1800"/>
              </a:spcBef>
              <a:buFont typeface="+mj-lt"/>
              <a:buNone/>
              <a:defRPr lang="ru-RU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endParaRPr lang="ru-RU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рисун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Полилиния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7" name="Полилиния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457200" indent="0">
              <a:spcBef>
                <a:spcPts val="1800"/>
              </a:spcBef>
              <a:buNone/>
              <a:defRPr lang="ru-RU" sz="2000"/>
            </a:lvl2pPr>
            <a:lvl3pPr marL="914400" indent="0">
              <a:spcBef>
                <a:spcPts val="1800"/>
              </a:spcBef>
              <a:buNone/>
              <a:defRPr lang="ru-RU" sz="2000"/>
            </a:lvl3pPr>
            <a:lvl4pPr marL="1371600" indent="0">
              <a:spcBef>
                <a:spcPts val="1800"/>
              </a:spcBef>
              <a:buNone/>
              <a:defRPr lang="ru-RU" sz="2000"/>
            </a:lvl4pPr>
            <a:lvl5pPr marL="1828800" indent="0">
              <a:spcBef>
                <a:spcPts val="1800"/>
              </a:spcBef>
              <a:buNone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>
              <a:spcBef>
                <a:spcPts val="18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9" name="Местозаполнитель таблицы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ru-RU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0" name="Дата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32" name="Номер слайда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Задание 4. Исследование функции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B4408-FA95-EFED-C845-CEAB2AFCD6DB}"/>
              </a:ext>
            </a:extLst>
          </p:cNvPr>
          <p:cNvSpPr txBox="1"/>
          <p:nvPr/>
        </p:nvSpPr>
        <p:spPr>
          <a:xfrm>
            <a:off x="6309904" y="4306957"/>
            <a:ext cx="5259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02060"/>
                </a:solidFill>
                <a:latin typeface="+mj-lt"/>
              </a:rPr>
              <a:t>Васидов Мухаммадсаид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13F62-9CDE-7558-3219-8A70F8EA7C6B}"/>
              </a:ext>
            </a:extLst>
          </p:cNvPr>
          <p:cNvSpPr/>
          <p:nvPr/>
        </p:nvSpPr>
        <p:spPr>
          <a:xfrm>
            <a:off x="595603" y="2015412"/>
            <a:ext cx="2304661" cy="27991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A4715-B260-F17D-1890-7E244D3A1283}"/>
              </a:ext>
            </a:extLst>
          </p:cNvPr>
          <p:cNvSpPr txBox="1"/>
          <p:nvPr/>
        </p:nvSpPr>
        <p:spPr>
          <a:xfrm>
            <a:off x="884852" y="1251723"/>
            <a:ext cx="995731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solidFill>
                  <a:sysClr val="windowText" lastClr="000000"/>
                </a:solidFill>
              </a:rPr>
              <a:t>Даны функции </a:t>
            </a:r>
            <a:r>
              <a:rPr lang="ru-RU" sz="2000" b="1" i="1" dirty="0">
                <a:solidFill>
                  <a:sysClr val="windowText" lastClr="000000"/>
                </a:solidFill>
              </a:rPr>
              <a:t>f(x) </a:t>
            </a:r>
            <a:r>
              <a:rPr lang="ru-RU" sz="2000" dirty="0">
                <a:solidFill>
                  <a:sysClr val="windowText" lastClr="000000"/>
                </a:solidFill>
              </a:rPr>
              <a:t>и </a:t>
            </a:r>
            <a:r>
              <a:rPr lang="ru-RU" sz="2000" b="1" i="1" dirty="0">
                <a:solidFill>
                  <a:sysClr val="windowText" lastClr="000000"/>
                </a:solidFill>
              </a:rPr>
              <a:t>g(x)</a:t>
            </a:r>
            <a:r>
              <a:rPr lang="ru-RU" sz="2000" dirty="0">
                <a:solidFill>
                  <a:sysClr val="windowText" lastClr="000000"/>
                </a:solidFill>
              </a:rPr>
              <a:t>. Проведите поочерёдно их полные исследования: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Найдите область определения функции.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Проверьте, является ли функция чётной (нечётной), а также периодической, и укажите, как эти свойства влияют на вид графика функции.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Исследуйте функцию на нулевые значения и найдите промежутки ее </a:t>
            </a:r>
            <a:r>
              <a:rPr lang="ru-RU" sz="2000" dirty="0" err="1">
                <a:solidFill>
                  <a:sysClr val="windowText" lastClr="000000"/>
                </a:solidFill>
              </a:rPr>
              <a:t>знакопостоянства</a:t>
            </a:r>
            <a:r>
              <a:rPr lang="ru-RU" sz="200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Исследуйте функцию с помощью первой производной: найдите интервалы монотонности и экстремумы функции.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Исследуйте функцию с помощью второй производной: найдите интервалы выпуклости (вогнутости) и точки перегиба функции.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Проверьте наличие вертикальных, горизонтальных и наклонных асимптот графика функции.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Найдите точки пересечения графика с координатными осями и (при необходимости) найдите значения функции в некоторых дополнительных точках.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ysClr val="windowText" lastClr="000000"/>
                </a:solidFill>
              </a:rPr>
              <a:t>Постройте график. Отметьте на нём все результаты исследования.</a:t>
            </a:r>
          </a:p>
          <a:p>
            <a:pPr algn="just"/>
            <a:endParaRPr lang="ru-RU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08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615B1D23-D5FE-ED1D-9A67-059EA0C03A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89572"/>
                <a:ext cx="6067697" cy="1593507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b="1" i="1" smtClean="0">
                          <a:latin typeface="Cambria Math" panose="02040503050406030204" pitchFamily="18" charset="0"/>
                        </a:rPr>
                        <m:t>Функция </m:t>
                      </m:r>
                      <m:r>
                        <a:rPr lang="ru-RU" sz="36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ar-AE" sz="3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6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ar-AE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3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ar-AE" sz="36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AE" sz="3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ar-AE" sz="3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ar-AE" sz="3600" b="1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a:rPr lang="ar-AE" sz="3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ar-AE" sz="36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ar-AE" sz="3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br>
                  <a:rPr lang="ar-AE" sz="3600" dirty="0"/>
                </a:br>
                <a:endParaRPr lang="ar-AE" sz="3600" dirty="0"/>
              </a:p>
            </p:txBody>
          </p:sp>
        </mc:Choice>
        <mc:Fallback xmlns="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615B1D23-D5FE-ED1D-9A67-059EA0C03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89572"/>
                <a:ext cx="6067697" cy="1593507"/>
              </a:xfrm>
              <a:prstGeom prst="rect">
                <a:avLst/>
              </a:prstGeom>
              <a:blipFill>
                <a:blip r:embed="rId2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72C404E-A712-D84C-9061-82CE11E748E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70587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1) Область определения.</a:t>
                </a:r>
              </a:p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Функция определена дробь</a:t>
                </a:r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, то есть знаменатель не должен быть равен нулю:</a:t>
                </a:r>
              </a:p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x – 3 ≠ 0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2800" dirty="0">
                    <a:solidFill>
                      <a:srgbClr val="002060"/>
                    </a:solidFill>
                  </a:rPr>
                  <a:t>x ≠ </a:t>
                </a:r>
                <a:r>
                  <a:rPr lang="ru-RU" sz="2800" dirty="0">
                    <a:solidFill>
                      <a:srgbClr val="002060"/>
                    </a:solidFill>
                  </a:rPr>
                  <a:t>3</a:t>
                </a: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72C404E-A712-D84C-9061-82CE11E74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705878"/>
              </a:xfrm>
              <a:blipFill>
                <a:blip r:embed="rId3"/>
                <a:stretch>
                  <a:fillRect l="-2037" t="-3604" b="-9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Объект 2">
            <a:extLst>
              <a:ext uri="{FF2B5EF4-FFF2-40B4-BE49-F238E27FC236}">
                <a16:creationId xmlns:a16="http://schemas.microsoft.com/office/drawing/2014/main" id="{28A3CCEC-2949-0F62-98E9-61C5BECB89B3}"/>
              </a:ext>
            </a:extLst>
          </p:cNvPr>
          <p:cNvSpPr txBox="1">
            <a:spLocks/>
          </p:cNvSpPr>
          <p:nvPr/>
        </p:nvSpPr>
        <p:spPr>
          <a:xfrm>
            <a:off x="594359" y="5514392"/>
            <a:ext cx="10471747" cy="100304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>
                <a:solidFill>
                  <a:srgbClr val="C00000"/>
                </a:solidFill>
              </a:rPr>
              <a:t>Ответ: </a:t>
            </a:r>
            <a:r>
              <a:rPr lang="en-US" sz="3600" dirty="0">
                <a:solidFill>
                  <a:srgbClr val="C00000"/>
                </a:solidFill>
              </a:rPr>
              <a:t>D(f) = (-∞, 3) </a:t>
            </a:r>
            <a:r>
              <a:rPr lang="ru-RU" sz="3600" dirty="0">
                <a:solidFill>
                  <a:srgbClr val="C00000"/>
                </a:solidFill>
              </a:rPr>
              <a:t>∪</a:t>
            </a:r>
            <a:r>
              <a:rPr lang="en-US" sz="3600" dirty="0">
                <a:solidFill>
                  <a:srgbClr val="C00000"/>
                </a:solidFill>
              </a:rPr>
              <a:t> (3, +∞) </a:t>
            </a:r>
            <a:endParaRPr lang="ru-RU" sz="3600" dirty="0">
              <a:solidFill>
                <a:srgbClr val="C00000"/>
              </a:solidFill>
            </a:endParaRPr>
          </a:p>
          <a:p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48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A59CA5-EDC0-7FA9-5BF1-07482183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A306D-E575-EB4D-EBBE-C9B06CEDEC0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2) Чётность/нечётность и периодичность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F458322-A34C-30F6-09EA-C52E5370BC3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Проверяем </a:t>
                </a:r>
                <a:r>
                  <a:rPr lang="en-US" sz="2800" b="1" i="1" dirty="0">
                    <a:solidFill>
                      <a:srgbClr val="002060"/>
                    </a:solidFill>
                  </a:rPr>
                  <a:t>f(-x)</a:t>
                </a:r>
                <a:r>
                  <a:rPr lang="en-US" sz="2800" dirty="0">
                    <a:solidFill>
                      <a:srgbClr val="002060"/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f(-x) ≠ f(x)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чётная)</a:t>
                </a: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f(-x) ≠ -f(x)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нечётная)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endParaRPr lang="ru-RU" sz="2800" b="1" dirty="0">
                  <a:solidFill>
                    <a:srgbClr val="002060"/>
                  </a:solidFill>
                </a:endParaRPr>
              </a:p>
              <a:p>
                <a:pPr algn="just"/>
                <a:r>
                  <a:rPr lang="ru-RU" sz="2800" dirty="0">
                    <a:solidFill>
                      <a:srgbClr val="002060"/>
                    </a:solidFill>
                  </a:rPr>
                  <a:t>Функция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непериодическая</a:t>
                </a:r>
                <a:r>
                  <a:rPr lang="ru-RU" sz="2800" dirty="0">
                    <a:solidFill>
                      <a:srgbClr val="002060"/>
                    </a:solidFill>
                  </a:rPr>
                  <a:t>, так как при больших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|x|</a:t>
                </a:r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она стремится к определённому пределу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(у нас это к 1)</a:t>
                </a:r>
                <a:r>
                  <a:rPr lang="ru-RU" sz="2800" dirty="0">
                    <a:solidFill>
                      <a:srgbClr val="002060"/>
                    </a:solidFill>
                  </a:rPr>
                  <a:t>, а непостоянная периодическая функция не имеет предела при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→ ∞ .</a:t>
                </a:r>
                <a:endParaRPr lang="ru-RU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F458322-A34C-30F6-09EA-C52E5370BC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  <a:blipFill>
                <a:blip r:embed="rId2"/>
                <a:stretch>
                  <a:fillRect l="-2037" t="-2394" r="-1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805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87FA38-8A5F-0F7B-70B0-D232341C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C51DC36-1A45-FBD0-3D07-E7C1470DD37D}"/>
              </a:ext>
            </a:extLst>
          </p:cNvPr>
          <p:cNvSpPr txBox="1">
            <a:spLocks/>
          </p:cNvSpPr>
          <p:nvPr/>
        </p:nvSpPr>
        <p:spPr>
          <a:xfrm>
            <a:off x="594358" y="606667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3) Нули функции и промежутки </a:t>
            </a:r>
            <a:r>
              <a:rPr lang="ru-RU" sz="3600" dirty="0" err="1"/>
              <a:t>знакопостоянства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A275F922-971F-06C7-4BCE-A5C47EA3400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9" y="2333766"/>
                <a:ext cx="5501642" cy="4326341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Нули функции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f(x) = 0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+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= 0</a:t>
                </a: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x + 2 = 0</a:t>
                </a: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x = -2</a:t>
                </a:r>
              </a:p>
              <a:p>
                <a:pPr marL="0" indent="0" algn="ctr">
                  <a:buNone/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Ответ:</a:t>
                </a:r>
                <a:r>
                  <a:rPr lang="ru-RU" sz="2800" dirty="0">
                    <a:solidFill>
                      <a:srgbClr val="002060"/>
                    </a:solidFill>
                  </a:rPr>
                  <a:t> единственный ноль функции: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x = -2</a:t>
                </a:r>
                <a:endParaRPr lang="ru-RU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A275F922-971F-06C7-4BCE-A5C47EA34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9" y="2333766"/>
                <a:ext cx="5501642" cy="4326341"/>
              </a:xfrm>
              <a:blipFill>
                <a:blip r:embed="rId2"/>
                <a:stretch>
                  <a:fillRect l="-3876" t="-2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Объект 2">
            <a:extLst>
              <a:ext uri="{FF2B5EF4-FFF2-40B4-BE49-F238E27FC236}">
                <a16:creationId xmlns:a16="http://schemas.microsoft.com/office/drawing/2014/main" id="{3697E29B-E721-C6F4-D9A0-35C034EB2E74}"/>
              </a:ext>
            </a:extLst>
          </p:cNvPr>
          <p:cNvSpPr txBox="1">
            <a:spLocks/>
          </p:cNvSpPr>
          <p:nvPr/>
        </p:nvSpPr>
        <p:spPr>
          <a:xfrm>
            <a:off x="6233159" y="2333766"/>
            <a:ext cx="5501642" cy="432634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rgbClr val="002060"/>
                </a:solidFill>
              </a:rPr>
              <a:t>Промежутки </a:t>
            </a:r>
            <a:r>
              <a:rPr lang="ru-RU" sz="2800" b="1" dirty="0" err="1">
                <a:solidFill>
                  <a:srgbClr val="002060"/>
                </a:solidFill>
              </a:rPr>
              <a:t>знакопостоянства</a:t>
            </a:r>
            <a:endParaRPr lang="ru-RU" sz="2800" b="1" dirty="0">
              <a:solidFill>
                <a:srgbClr val="002060"/>
              </a:solidFill>
            </a:endParaRPr>
          </a:p>
          <a:p>
            <a:r>
              <a:rPr lang="ru-RU" sz="2800" dirty="0">
                <a:solidFill>
                  <a:srgbClr val="002060"/>
                </a:solidFill>
              </a:rPr>
              <a:t>Разбиваем ось на интервалы:</a:t>
            </a:r>
          </a:p>
          <a:p>
            <a:pPr algn="ctr"/>
            <a:r>
              <a:rPr lang="en-US" sz="2800" b="1" dirty="0">
                <a:solidFill>
                  <a:srgbClr val="002060"/>
                </a:solidFill>
              </a:rPr>
              <a:t>(-∞, </a:t>
            </a:r>
            <a:r>
              <a:rPr lang="ru-RU" sz="2800" b="1" dirty="0">
                <a:solidFill>
                  <a:srgbClr val="002060"/>
                </a:solidFill>
              </a:rPr>
              <a:t>-2</a:t>
            </a:r>
            <a:r>
              <a:rPr lang="en-US" sz="2800" b="1" dirty="0">
                <a:solidFill>
                  <a:srgbClr val="002060"/>
                </a:solidFill>
              </a:rPr>
              <a:t>)</a:t>
            </a:r>
            <a:r>
              <a:rPr lang="ru-RU" sz="2800" b="1" dirty="0">
                <a:solidFill>
                  <a:srgbClr val="002060"/>
                </a:solidFill>
              </a:rPr>
              <a:t>,</a:t>
            </a:r>
            <a:r>
              <a:rPr lang="en-US" sz="2800" b="1" dirty="0">
                <a:solidFill>
                  <a:srgbClr val="002060"/>
                </a:solidFill>
              </a:rPr>
              <a:t> (</a:t>
            </a:r>
            <a:r>
              <a:rPr lang="ru-RU" sz="2800" b="1" dirty="0">
                <a:solidFill>
                  <a:srgbClr val="002060"/>
                </a:solidFill>
              </a:rPr>
              <a:t>-2</a:t>
            </a:r>
            <a:r>
              <a:rPr lang="en-US" sz="2800" b="1" dirty="0">
                <a:solidFill>
                  <a:srgbClr val="002060"/>
                </a:solidFill>
              </a:rPr>
              <a:t>, </a:t>
            </a:r>
            <a:r>
              <a:rPr lang="ru-RU" sz="2800" b="1" dirty="0">
                <a:solidFill>
                  <a:srgbClr val="002060"/>
                </a:solidFill>
              </a:rPr>
              <a:t>3), (3, </a:t>
            </a:r>
            <a:r>
              <a:rPr lang="en-US" sz="2800" b="1" dirty="0">
                <a:solidFill>
                  <a:srgbClr val="002060"/>
                </a:solidFill>
              </a:rPr>
              <a:t>+∞)</a:t>
            </a:r>
            <a:endParaRPr lang="ru-RU" sz="2800" b="1" dirty="0">
              <a:solidFill>
                <a:srgbClr val="002060"/>
              </a:solidFill>
            </a:endParaRPr>
          </a:p>
          <a:p>
            <a:r>
              <a:rPr lang="ru-RU" sz="2800" b="1" dirty="0">
                <a:solidFill>
                  <a:srgbClr val="002060"/>
                </a:solidFill>
              </a:rPr>
              <a:t>Ответ:</a:t>
            </a:r>
          </a:p>
          <a:p>
            <a:r>
              <a:rPr lang="en-US" sz="2800" b="1" i="1" dirty="0">
                <a:solidFill>
                  <a:srgbClr val="002060"/>
                </a:solidFill>
              </a:rPr>
              <a:t>	f(x) &gt; 0</a:t>
            </a:r>
            <a:r>
              <a:rPr lang="ru-RU" sz="2800" dirty="0">
                <a:solidFill>
                  <a:srgbClr val="002060"/>
                </a:solidFill>
              </a:rPr>
              <a:t>: </a:t>
            </a:r>
            <a:r>
              <a:rPr lang="en-US" sz="2800" dirty="0">
                <a:solidFill>
                  <a:srgbClr val="002060"/>
                </a:solidFill>
              </a:rPr>
              <a:t>(-∞, </a:t>
            </a:r>
            <a:r>
              <a:rPr lang="ru-RU" sz="2800" dirty="0">
                <a:solidFill>
                  <a:srgbClr val="002060"/>
                </a:solidFill>
              </a:rPr>
              <a:t>-2</a:t>
            </a:r>
            <a:r>
              <a:rPr lang="en-US" sz="2800" dirty="0">
                <a:solidFill>
                  <a:srgbClr val="002060"/>
                </a:solidFill>
              </a:rPr>
              <a:t>)</a:t>
            </a:r>
            <a:r>
              <a:rPr lang="ru-RU" sz="2800" dirty="0">
                <a:solidFill>
                  <a:srgbClr val="002060"/>
                </a:solidFill>
              </a:rPr>
              <a:t> ∪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>
                <a:solidFill>
                  <a:srgbClr val="002060"/>
                </a:solidFill>
              </a:rPr>
              <a:t>(3, </a:t>
            </a:r>
            <a:r>
              <a:rPr lang="en-US" sz="2800" dirty="0">
                <a:solidFill>
                  <a:srgbClr val="002060"/>
                </a:solidFill>
              </a:rPr>
              <a:t>+∞)</a:t>
            </a:r>
            <a:endParaRPr lang="ru-RU" sz="2800" dirty="0">
              <a:solidFill>
                <a:srgbClr val="002060"/>
              </a:solidFill>
            </a:endParaRPr>
          </a:p>
          <a:p>
            <a:r>
              <a:rPr lang="en-US" sz="2800" b="1" i="1" dirty="0">
                <a:solidFill>
                  <a:srgbClr val="002060"/>
                </a:solidFill>
              </a:rPr>
              <a:t>	f(x) &lt; 0</a:t>
            </a:r>
            <a:r>
              <a:rPr lang="ru-RU" sz="2800" dirty="0">
                <a:solidFill>
                  <a:srgbClr val="002060"/>
                </a:solidFill>
              </a:rPr>
              <a:t>: </a:t>
            </a:r>
            <a:r>
              <a:rPr lang="en-US" sz="2800" dirty="0">
                <a:solidFill>
                  <a:srgbClr val="002060"/>
                </a:solidFill>
              </a:rPr>
              <a:t>(-2, 3)</a:t>
            </a:r>
          </a:p>
          <a:p>
            <a:r>
              <a:rPr lang="en-US" sz="2800" b="1" i="1" dirty="0">
                <a:solidFill>
                  <a:srgbClr val="002060"/>
                </a:solidFill>
              </a:rPr>
              <a:t>	f(-2) = 0</a:t>
            </a:r>
            <a:endParaRPr lang="ru-RU" sz="2800" b="1" i="1" dirty="0">
              <a:solidFill>
                <a:srgbClr val="002060"/>
              </a:solidFill>
            </a:endParaRPr>
          </a:p>
          <a:p>
            <a:endParaRPr lang="ru-RU" sz="2800" dirty="0">
              <a:solidFill>
                <a:srgbClr val="002060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A89A04A-7C97-B993-EFD6-45750C5E1168}"/>
              </a:ext>
            </a:extLst>
          </p:cNvPr>
          <p:cNvCxnSpPr/>
          <p:nvPr/>
        </p:nvCxnSpPr>
        <p:spPr>
          <a:xfrm>
            <a:off x="5918579" y="2333766"/>
            <a:ext cx="0" cy="416256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Управляющая кнопка: &quot;Получить сведения&quot;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75DBEE7-4BBA-DFD0-4353-F923829E2872}"/>
              </a:ext>
            </a:extLst>
          </p:cNvPr>
          <p:cNvSpPr/>
          <p:nvPr/>
        </p:nvSpPr>
        <p:spPr>
          <a:xfrm>
            <a:off x="7342497" y="4142093"/>
            <a:ext cx="532263" cy="539089"/>
          </a:xfrm>
          <a:prstGeom prst="actionButtonInform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23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3FC69-AC5F-F681-E571-B8D6F56A2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Проверка знак дроби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CAD4BFF3-4EB3-5F01-B547-69AA0C5D7E5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</p:spPr>
            <p:txBody>
              <a:bodyPr>
                <a:normAutofit/>
              </a:bodyPr>
              <a:lstStyle/>
              <a:p>
                <a:r>
                  <a:rPr lang="ru-RU" sz="2800" dirty="0">
                    <a:solidFill>
                      <a:srgbClr val="002060"/>
                    </a:solidFill>
                  </a:rPr>
                  <a:t>1.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(-∞, </a:t>
                </a:r>
                <a:r>
                  <a:rPr lang="ru-RU" sz="2800" dirty="0">
                    <a:solidFill>
                      <a:srgbClr val="002060"/>
                    </a:solidFill>
                  </a:rPr>
                  <a:t>-2</a:t>
                </a:r>
                <a:r>
                  <a:rPr lang="en-US" sz="2800" dirty="0">
                    <a:solidFill>
                      <a:srgbClr val="002060"/>
                    </a:solidFill>
                  </a:rPr>
                  <a:t>), x = -3: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&gt;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en-US" sz="2800" dirty="0">
                    <a:solidFill>
                      <a:srgbClr val="002060"/>
                    </a:solidFill>
                  </a:rPr>
                  <a:t>2</a:t>
                </a:r>
                <a:r>
                  <a:rPr lang="ru-RU" sz="2800" dirty="0">
                    <a:solidFill>
                      <a:srgbClr val="002060"/>
                    </a:solidFill>
                  </a:rPr>
                  <a:t>.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(-2, 3), x = 0: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en-US" sz="2800" dirty="0">
                    <a:solidFill>
                      <a:srgbClr val="002060"/>
                    </a:solidFill>
                  </a:rPr>
                  <a:t>3</a:t>
                </a:r>
                <a:r>
                  <a:rPr lang="ru-RU" sz="2800" dirty="0">
                    <a:solidFill>
                      <a:srgbClr val="002060"/>
                    </a:solidFill>
                  </a:rPr>
                  <a:t>.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(3, +∞), x = 4: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&gt;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CAD4BFF3-4EB3-5F01-B547-69AA0C5D7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  <a:blipFill>
                <a:blip r:embed="rId2"/>
                <a:stretch>
                  <a:fillRect l="-2037" t="-2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Управляющая кнопка: возврат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FA4F04E-875A-876A-367C-2BCFB1A3F755}"/>
              </a:ext>
            </a:extLst>
          </p:cNvPr>
          <p:cNvSpPr/>
          <p:nvPr/>
        </p:nvSpPr>
        <p:spPr>
          <a:xfrm>
            <a:off x="6441742" y="1158576"/>
            <a:ext cx="641445" cy="614149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56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5457B-E1D7-7650-759E-95FC82A0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12336E3-2471-80FA-A0AB-A46E6B2C25FE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4) Исследование с помощью первой производной: монотонность и экстремумы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D4393E3-3DCE-A27E-529F-94B96EC8566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•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• </m:t>
                    </m:r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</m:t>
                    </m:r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2800" dirty="0">
                    <a:solidFill>
                      <a:srgbClr val="002060"/>
                    </a:solidFill>
                  </a:rPr>
                  <a:t>(Точка допустима)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↔ </m:t>
                      </m:r>
                      <m:sSup>
                        <m:sSupPr>
                          <m:ctrlPr>
                            <a:rPr lang="ru-RU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ru-RU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2800" b="0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</a:rPr>
                  <a:t>Знак производной, монотонность и экстремумы: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Числитель: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для всех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x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Знаменатель: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&gt;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для всех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x </a:t>
                </a:r>
                <a:r>
                  <a:rPr lang="en-US" b="1" dirty="0">
                    <a:solidFill>
                      <a:srgbClr val="002060"/>
                    </a:solidFill>
                  </a:rPr>
                  <a:t>≠ 3</a:t>
                </a:r>
                <a:endParaRPr lang="ru-RU" sz="28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Ответ: </a:t>
                </a:r>
                <a:r>
                  <a:rPr lang="ru-RU" sz="2800" dirty="0">
                    <a:solidFill>
                      <a:srgbClr val="002060"/>
                    </a:solidFill>
                  </a:rPr>
                  <a:t>Функция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убывает</a:t>
                </a:r>
                <a:r>
                  <a:rPr lang="ru-RU" sz="2800" dirty="0">
                    <a:solidFill>
                      <a:srgbClr val="002060"/>
                    </a:solidFill>
                  </a:rPr>
                  <a:t> на интервалах: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(-∞; 3) и (3; +∞), экстремумов нет</a:t>
                </a: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D4393E3-3DCE-A27E-529F-94B96EC85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  <a:blipFill>
                <a:blip r:embed="rId2"/>
                <a:stretch>
                  <a:fillRect l="-1856" r="-742" b="-15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79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75DCEE-13A3-6F7F-9B93-A89FB95F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F479E17-693F-04EC-55EB-8330AFC57B8C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5) Исследование с помощью второй производной: выпуклость и точки перегиба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0722442-26C2-9CDD-FD74-4B357A70A93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047157"/>
                <a:ext cx="11497558" cy="4326341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</a:rPr>
                  <a:t>Разобьём ось:</a:t>
                </a:r>
                <a:endParaRPr lang="en-US" sz="2800" b="1" i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(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Проверка знака даёт: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800" dirty="0">
                    <a:solidFill>
                      <a:srgbClr val="002060"/>
                    </a:solidFill>
                  </a:rPr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∪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:выпукла вниз</m:t>
                    </m:r>
                  </m:oMath>
                </a14:m>
                <a:endParaRPr lang="ru-RU" sz="2800" dirty="0">
                  <a:solidFill>
                    <a:srgbClr val="002060"/>
                  </a:solidFill>
                  <a:ea typeface="ADLaM Display" panose="020F0502020204030204" pitchFamily="2" charset="0"/>
                  <a:cs typeface="ADLaM Display" panose="020F0502020204030204" pitchFamily="2" charset="0"/>
                </a:endParaRP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800" dirty="0">
                    <a:solidFill>
                      <a:srgbClr val="002060"/>
                    </a:solidFill>
                  </a:rPr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 ∪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ru-RU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выпукла </m:t>
                    </m:r>
                    <m:r>
                      <a:rPr lang="ru-RU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вверх</m:t>
                    </m:r>
                  </m:oMath>
                </a14:m>
                <a:endParaRPr lang="ru-RU" sz="28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0722442-26C2-9CDD-FD74-4B357A70A9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047157"/>
                <a:ext cx="11497558" cy="4326341"/>
              </a:xfrm>
              <a:blipFill>
                <a:blip r:embed="rId2"/>
                <a:stretch>
                  <a:fillRect l="-18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D2143B47-5B02-7D52-8115-E092459EA486}"/>
              </a:ext>
            </a:extLst>
          </p:cNvPr>
          <p:cNvCxnSpPr>
            <a:cxnSpLocks/>
          </p:cNvCxnSpPr>
          <p:nvPr/>
        </p:nvCxnSpPr>
        <p:spPr>
          <a:xfrm>
            <a:off x="3057093" y="6182439"/>
            <a:ext cx="6059604" cy="0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Дуга 8">
            <a:extLst>
              <a:ext uri="{FF2B5EF4-FFF2-40B4-BE49-F238E27FC236}">
                <a16:creationId xmlns:a16="http://schemas.microsoft.com/office/drawing/2014/main" id="{0B97A65F-C2C4-4008-8513-572554C1B245}"/>
              </a:ext>
            </a:extLst>
          </p:cNvPr>
          <p:cNvSpPr/>
          <p:nvPr/>
        </p:nvSpPr>
        <p:spPr>
          <a:xfrm>
            <a:off x="928045" y="5721827"/>
            <a:ext cx="2975212" cy="921224"/>
          </a:xfrm>
          <a:prstGeom prst="arc">
            <a:avLst>
              <a:gd name="adj1" fmla="val 14217999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уга 9">
            <a:extLst>
              <a:ext uri="{FF2B5EF4-FFF2-40B4-BE49-F238E27FC236}">
                <a16:creationId xmlns:a16="http://schemas.microsoft.com/office/drawing/2014/main" id="{E7DC182C-4EFF-43FF-D417-DA7386A34D7E}"/>
              </a:ext>
            </a:extLst>
          </p:cNvPr>
          <p:cNvSpPr/>
          <p:nvPr/>
        </p:nvSpPr>
        <p:spPr>
          <a:xfrm rot="10800000">
            <a:off x="3903256" y="5721827"/>
            <a:ext cx="1897037" cy="921224"/>
          </a:xfrm>
          <a:prstGeom prst="arc">
            <a:avLst>
              <a:gd name="adj1" fmla="val 10853708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Дуга 10">
            <a:extLst>
              <a:ext uri="{FF2B5EF4-FFF2-40B4-BE49-F238E27FC236}">
                <a16:creationId xmlns:a16="http://schemas.microsoft.com/office/drawing/2014/main" id="{3C90586B-B21B-F849-641C-27E7E9827499}"/>
              </a:ext>
            </a:extLst>
          </p:cNvPr>
          <p:cNvSpPr/>
          <p:nvPr/>
        </p:nvSpPr>
        <p:spPr>
          <a:xfrm>
            <a:off x="5800293" y="5721827"/>
            <a:ext cx="1897037" cy="921224"/>
          </a:xfrm>
          <a:prstGeom prst="arc">
            <a:avLst>
              <a:gd name="adj1" fmla="val 10853708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AFE5AC07-B27E-7CC5-994B-78838F23A7EF}"/>
              </a:ext>
            </a:extLst>
          </p:cNvPr>
          <p:cNvSpPr/>
          <p:nvPr/>
        </p:nvSpPr>
        <p:spPr>
          <a:xfrm rot="10800000">
            <a:off x="7697329" y="5721827"/>
            <a:ext cx="1897037" cy="921224"/>
          </a:xfrm>
          <a:prstGeom prst="arc">
            <a:avLst>
              <a:gd name="adj1" fmla="val 13057137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D8A462-9710-9686-2940-7AF15B94BF05}"/>
              </a:ext>
            </a:extLst>
          </p:cNvPr>
          <p:cNvSpPr txBox="1"/>
          <p:nvPr/>
        </p:nvSpPr>
        <p:spPr>
          <a:xfrm>
            <a:off x="2483888" y="5721826"/>
            <a:ext cx="436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81FC2-58E8-E473-51F2-8A0349458309}"/>
              </a:ext>
            </a:extLst>
          </p:cNvPr>
          <p:cNvSpPr txBox="1"/>
          <p:nvPr/>
        </p:nvSpPr>
        <p:spPr>
          <a:xfrm>
            <a:off x="6605510" y="5721829"/>
            <a:ext cx="436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B3CECA-C61C-4B7A-9754-19FD44142332}"/>
              </a:ext>
            </a:extLst>
          </p:cNvPr>
          <p:cNvSpPr txBox="1"/>
          <p:nvPr/>
        </p:nvSpPr>
        <p:spPr>
          <a:xfrm>
            <a:off x="4708474" y="6068129"/>
            <a:ext cx="436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2060"/>
                </a:solidFill>
              </a:rPr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04052-1CC9-9BE4-3001-2937EF73CDC2}"/>
              </a:ext>
            </a:extLst>
          </p:cNvPr>
          <p:cNvSpPr txBox="1"/>
          <p:nvPr/>
        </p:nvSpPr>
        <p:spPr>
          <a:xfrm>
            <a:off x="8407010" y="6142665"/>
            <a:ext cx="436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2060"/>
                </a:solidFill>
              </a:rPr>
              <a:t>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CD02CF-EB6C-B060-2EA7-9A9A44EABBDE}"/>
              </a:ext>
            </a:extLst>
          </p:cNvPr>
          <p:cNvSpPr txBox="1"/>
          <p:nvPr/>
        </p:nvSpPr>
        <p:spPr>
          <a:xfrm>
            <a:off x="2599887" y="4939879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ᴗ</a:t>
            </a:r>
            <a:endParaRPr lang="ru-RU" sz="4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7EA2FF-D31E-32B5-CFFD-E8926663C19C}"/>
              </a:ext>
            </a:extLst>
          </p:cNvPr>
          <p:cNvSpPr txBox="1"/>
          <p:nvPr/>
        </p:nvSpPr>
        <p:spPr>
          <a:xfrm>
            <a:off x="6564563" y="4939879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ᴗ</a:t>
            </a:r>
            <a:endParaRPr lang="ru-RU" sz="4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EE1331-AA7A-DACB-337D-9A62E3B41F64}"/>
              </a:ext>
            </a:extLst>
          </p:cNvPr>
          <p:cNvSpPr txBox="1"/>
          <p:nvPr/>
        </p:nvSpPr>
        <p:spPr>
          <a:xfrm rot="10800000">
            <a:off x="4667527" y="5636805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ᴗ</a:t>
            </a:r>
            <a:endParaRPr lang="ru-RU" sz="4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93F4BD-31F1-DDCF-6A17-183F37B93D5C}"/>
              </a:ext>
            </a:extLst>
          </p:cNvPr>
          <p:cNvSpPr txBox="1"/>
          <p:nvPr/>
        </p:nvSpPr>
        <p:spPr>
          <a:xfrm rot="10800000">
            <a:off x="8325123" y="5584695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ᴗ</a:t>
            </a:r>
            <a:endParaRPr lang="ru-RU" sz="4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501FB6-FD99-CD99-6F93-DDCDE2B1A19B}"/>
              </a:ext>
            </a:extLst>
          </p:cNvPr>
          <p:cNvSpPr txBox="1"/>
          <p:nvPr/>
        </p:nvSpPr>
        <p:spPr>
          <a:xfrm>
            <a:off x="9075748" y="6052304"/>
            <a:ext cx="436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</a:rPr>
              <a:t>х</a:t>
            </a:r>
          </a:p>
        </p:txBody>
      </p:sp>
    </p:spTree>
    <p:extLst>
      <p:ext uri="{BB962C8B-B14F-4D97-AF65-F5344CB8AC3E}">
        <p14:creationId xmlns:p14="http://schemas.microsoft.com/office/powerpoint/2010/main" val="48263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2D742E-9C01-99E6-6E75-C5F1F2C6F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EFDE52F-0AEC-1B7A-D864-9F73A9C5C47E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4000" dirty="0"/>
              <a:t>5.2) Точки перегиба</a:t>
            </a:r>
            <a:endParaRPr lang="ar-AE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4FD28918-1698-A32A-C4C5-BCBB4293043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374710"/>
                <a:ext cx="11497558" cy="436728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′′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, когда числитель равен нулю: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dirty="0">
                    <a:solidFill>
                      <a:srgbClr val="002060"/>
                    </a:solidFill>
                  </a:rPr>
                  <a:t>30(x+2)(x+7) = 0</a:t>
                </a:r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Точки перегиба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x = -7: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(−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x = -2: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→(−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4FD28918-1698-A32A-C4C5-BCBB42930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374710"/>
                <a:ext cx="11497558" cy="4367284"/>
              </a:xfrm>
              <a:blipFill>
                <a:blip r:embed="rId2"/>
                <a:stretch>
                  <a:fillRect l="-1697" t="-2374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57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236414-F087-D6F6-F291-A561C6927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D650469-2040-BB64-3EF2-5F2E163B602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6) Проверка наличия асимптот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8403073D-7518-2328-EDBE-EE07825BE21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Вертикальная: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Горизонтальная: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BR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</m:e>
                    </m:func>
                    <m:sSup>
                      <m:sSupPr>
                        <m:ctrlPr>
                          <a:rPr lang="pt-BR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Наклонной нет (так как есть горизонтальная уже есть)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8403073D-7518-2328-EDBE-EE07825B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909" t="-2671" b="-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28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836E82-B554-D50C-A9FE-50727214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386B4C9-86FD-8609-8FE6-606B256D4BF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7) Пересечения с осями и доп. точки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D73B25F-9FBC-938C-36C5-FC77B5A15D0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Ox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(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нули):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Oy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ru-RU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ru-RU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Дополнительно удобно для эскиза:</a:t>
                </a:r>
              </a:p>
              <a:p>
                <a:pPr marL="457200" indent="-4572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x = 2: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x = 4: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D73B25F-9FBC-938C-36C5-FC77B5A15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750" t="-3412" b="-19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74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F3E65B-5329-2B0C-3A51-97B117C2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87F9596E-6190-0E7B-B90B-F415FEDE03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r>
                  <a:rPr lang="en-US" sz="3600" dirty="0"/>
                  <a:t>8)</a:t>
                </a:r>
                <a:r>
                  <a:rPr lang="ru-RU" sz="3600" dirty="0"/>
                  <a:t> </a:t>
                </a:r>
                <a:r>
                  <a:rPr lang="ru-RU" sz="4000" dirty="0"/>
                  <a:t>График функции </a:t>
                </a:r>
                <a14:m>
                  <m:oMath xmlns:m="http://schemas.openxmlformats.org/officeDocument/2006/math">
                    <m:r>
                      <a:rPr lang="ru-RU" sz="3600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ar-AE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ar-AE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ar-AE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br>
                  <a:rPr lang="ar-AE" sz="3600" dirty="0"/>
                </a:br>
                <a:endParaRPr lang="ar-AE" sz="3600" dirty="0"/>
              </a:p>
            </p:txBody>
          </p:sp>
        </mc:Choice>
        <mc:Fallback xmlns="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87F9596E-6190-0E7B-B90B-F415FEDE0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  <a:blipFill>
                <a:blip r:embed="rId2"/>
                <a:stretch>
                  <a:fillRect l="-2825" t="-158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 descr="Изображение выглядит как линия, График, текст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52D5E1-A7CE-EF67-099A-2CADCDA83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25" y="1320270"/>
            <a:ext cx="6875741" cy="5347799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9CA2DD1B-8B6C-966A-BEC3-F6179906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266" y="2318898"/>
            <a:ext cx="497673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🔵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График функции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🔴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Асимптоты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: вертикальная x = 3 и горизонтальная y = 1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🟠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Точки перегиба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: (-7; 0.125) и (-2; 0)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🟢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Точка пересечения с осью Oy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: (0; -8/27) </a:t>
            </a:r>
          </a:p>
        </p:txBody>
      </p:sp>
    </p:spTree>
    <p:extLst>
      <p:ext uri="{BB962C8B-B14F-4D97-AF65-F5344CB8AC3E}">
        <p14:creationId xmlns:p14="http://schemas.microsoft.com/office/powerpoint/2010/main" val="2356817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D99E77-7353-96CE-9387-47E5C1CF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94FF8113-419A-9733-6944-9B0B0F6533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89572"/>
                <a:ext cx="7457958" cy="1593507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b="1" i="1" smtClean="0">
                          <a:latin typeface="Cambria Math" panose="02040503050406030204" pitchFamily="18" charset="0"/>
                        </a:rPr>
                        <m:t>Функция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ar-AE" sz="3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𝒍𝒏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br>
                  <a:rPr lang="ar-AE" sz="3600" dirty="0"/>
                </a:br>
                <a:endParaRPr lang="ar-AE" sz="3600" dirty="0"/>
              </a:p>
            </p:txBody>
          </p:sp>
        </mc:Choice>
        <mc:Fallback xmlns="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94FF8113-419A-9733-6944-9B0B0F653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89572"/>
                <a:ext cx="7457958" cy="15935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7251414-0016-5B20-CFCD-FDC97338583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19896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arenR"/>
                </a:pPr>
                <a:r>
                  <a:rPr lang="ru-RU" sz="2800" dirty="0">
                    <a:solidFill>
                      <a:srgbClr val="002060"/>
                    </a:solidFill>
                  </a:rPr>
                  <a:t>Область определения.</a:t>
                </a:r>
              </a:p>
              <a:p>
                <a:pPr algn="ctr"/>
                <a:endParaRPr lang="en-US" sz="2800" b="1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при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ru-RU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7251414-0016-5B20-CFCD-FDC973385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198967"/>
              </a:xfrm>
              <a:blipFill>
                <a:blip r:embed="rId3"/>
                <a:stretch>
                  <a:fillRect l="-1921" t="-44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D7D496AD-4E49-08D7-350A-B6348D7BB4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0126" y="4990218"/>
                <a:ext cx="10471747" cy="1003040"/>
              </a:xfrm>
              <a:prstGeom prst="rect">
                <a:avLst/>
              </a:prstGeom>
            </p:spPr>
            <p:txBody>
              <a:bodyPr vert="horz" lIns="0" tIns="45720" rIns="91440" bIns="45720" rtlCol="0">
                <a:normAutofit/>
              </a:bodyPr>
              <a:lstStyle>
                <a:defPPr>
                  <a:defRPr lang="ru-RU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83464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sz="3600" b="1" dirty="0">
                    <a:solidFill>
                      <a:srgbClr val="002060"/>
                    </a:solidFill>
                  </a:rPr>
                  <a:t>Ответ: </a:t>
                </a:r>
                <a:r>
                  <a:rPr lang="en-US" sz="3600" dirty="0">
                    <a:solidFill>
                      <a:srgbClr val="002060"/>
                    </a:solidFill>
                  </a:rPr>
                  <a:t>D(g) =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3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36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3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36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D7D496AD-4E49-08D7-350A-B6348D7BB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26" y="4990218"/>
                <a:ext cx="10471747" cy="1003040"/>
              </a:xfrm>
              <a:prstGeom prst="rect">
                <a:avLst/>
              </a:prstGeom>
              <a:blipFill>
                <a:blip r:embed="rId4"/>
                <a:stretch>
                  <a:fillRect l="-2619" t="-158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945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DE43AE-A4B6-1DFE-B8E3-527F6556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7076C49-49C2-9038-2FF1-B6FA3B650AD1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2) Чётность/нечётность и периодичность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D3B97C9-029D-5CC0-D6F3-D4F25EB6B9D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Проверяем </a:t>
                </a:r>
                <a:r>
                  <a:rPr lang="en-US" sz="2800" b="1" i="1" dirty="0">
                    <a:solidFill>
                      <a:srgbClr val="002060"/>
                    </a:solidFill>
                  </a:rPr>
                  <a:t>f(-x)</a:t>
                </a:r>
                <a:r>
                  <a:rPr lang="en-US" sz="2800" dirty="0">
                    <a:solidFill>
                      <a:srgbClr val="002060"/>
                    </a:solidFill>
                  </a:rPr>
                  <a:t>:</a:t>
                </a:r>
              </a:p>
              <a:p>
                <a:pPr>
                  <a:spcBef>
                    <a:spcPts val="0"/>
                  </a:spcBef>
                </a:pPr>
                <a:endParaRPr lang="en-US" sz="2600" i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ru-RU" sz="2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)) +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+ 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6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g(-x) ≠ g(x)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чётная)</a:t>
                </a: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g(-x) ≠ -g(x)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нечётная)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</a:p>
              <a:p>
                <a:r>
                  <a:rPr lang="ru-RU" sz="2800" dirty="0">
                    <a:solidFill>
                      <a:srgbClr val="002060"/>
                    </a:solidFill>
                  </a:rPr>
                  <a:t>Периодичность:</a:t>
                </a:r>
              </a:p>
              <a:p>
                <a:pPr algn="ctr"/>
                <a:r>
                  <a:rPr lang="ru-RU" sz="2800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ru-RU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ru-RU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)) +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r>
                  <a:rPr lang="ru-RU" sz="2800" dirty="0">
                    <a:solidFill>
                      <a:srgbClr val="002060"/>
                    </a:solidFill>
                  </a:rPr>
                  <a:t>	Функция периодическая с периодом 2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D3B97C9-029D-5CC0-D6F3-D4F25EB6B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  <a:blipFill>
                <a:blip r:embed="rId2"/>
                <a:stretch>
                  <a:fillRect l="-2037" t="-3380" b="-33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49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E4C2ED-4158-5E86-EAFA-D7A3B144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931C9E3-8F84-A502-F345-3570E8C50AF1}"/>
              </a:ext>
            </a:extLst>
          </p:cNvPr>
          <p:cNvSpPr txBox="1">
            <a:spLocks/>
          </p:cNvSpPr>
          <p:nvPr/>
        </p:nvSpPr>
        <p:spPr>
          <a:xfrm>
            <a:off x="594358" y="606667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3.1) Нулевые значения</a:t>
            </a:r>
            <a:endParaRPr lang="ar-A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F7D3BE1-E2C0-85DB-1FF7-7C3B9FE0FEB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Нулевые значения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pPr algn="ctr">
                  <a:spcBef>
                    <a:spcPts val="0"/>
                  </a:spcBef>
                </a:pPr>
                <a:endParaRPr lang="ru-RU" sz="2800" b="1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]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567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и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ru-RU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ru-RU" sz="2800" b="1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endParaRPr lang="ru-RU" sz="2800" b="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𝑎𝑟𝑐𝑠𝑖𝑛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F7D3BE1-E2C0-85DB-1FF7-7C3B9FE0F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  <a:blipFill>
                <a:blip r:embed="rId2"/>
                <a:stretch>
                  <a:fillRect t="-2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31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7CE8AD-D14D-FD4B-1C9A-F3AFE672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F3B03B5-F353-8D38-B940-68A0EE02A4A8}"/>
              </a:ext>
            </a:extLst>
          </p:cNvPr>
          <p:cNvSpPr txBox="1">
            <a:spLocks/>
          </p:cNvSpPr>
          <p:nvPr/>
        </p:nvSpPr>
        <p:spPr>
          <a:xfrm>
            <a:off x="594358" y="606667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3.2) Промежутки </a:t>
            </a:r>
            <a:r>
              <a:rPr lang="ru-RU" sz="3600" dirty="0" err="1"/>
              <a:t>знакопостоянства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AD0A08C-4B03-5FEA-42CD-E526234E5C7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</p:spPr>
            <p:txBody>
              <a:bodyPr>
                <a:normAutofit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</a:rPr>
                  <a:t>На каждом интервале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</a:rPr>
                  <a:t>g(x)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&lt; 0:</a:t>
                </a: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∪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</a:rPr>
                  <a:t>g(x) &gt;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0:</a:t>
                </a: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</a:rPr>
                  <a:t>g(x) =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0:</a:t>
                </a: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и  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AD0A08C-4B03-5FEA-42CD-E526234E5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  <a:blipFill>
                <a:blip r:embed="rId2"/>
                <a:stretch>
                  <a:fillRect l="-2154" t="-2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44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BB67BB-A606-5B96-8708-C6F42E5F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CDDB636-332A-5B3C-A543-F84BCB00DA7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4.1) Исследование с помощью первой производной: монотонность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EC14724-4363-37DF-B85C-0F75E2B9861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arenR"/>
                </a:pPr>
                <a:r>
                  <a:rPr lang="ru-RU" sz="2800" b="0" dirty="0">
                    <a:solidFill>
                      <a:srgbClr val="002060"/>
                    </a:solidFill>
                  </a:rPr>
                  <a:t>Первая производная: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514350" indent="-514350">
                  <a:buAutoNum type="arabicParenR" startAt="2"/>
                </a:pPr>
                <a:r>
                  <a:rPr lang="ru-RU" sz="2800" dirty="0">
                    <a:solidFill>
                      <a:srgbClr val="002060"/>
                    </a:solidFill>
                  </a:rPr>
                  <a:t>Интервалы монотонности: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(2</a:t>
                </a:r>
                <a14:m>
                  <m:oMath xmlns:m="http://schemas.openxmlformats.org/officeDocument/2006/math"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ru-RU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→возрастает</m:t>
                    </m:r>
                  </m:oMath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→убывае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т</m:t>
                    </m:r>
                  </m:oMath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EC14724-4363-37DF-B85C-0F75E2B98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  <a:blipFill>
                <a:blip r:embed="rId2"/>
                <a:stretch>
                  <a:fillRect l="-1750" t="-22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328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88714C-41D8-AD7F-2418-722D6138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39D47F8-FA13-FFEE-FDAF-3B9619216FD0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4.2) Исследование с помощью первой производной: экстремумы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92CEA84-0C3F-8F5C-3BCD-403F5D4F847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89577" y="2877500"/>
                <a:ext cx="10249484" cy="272817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sz="2800" i="1" dirty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ar-AE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sz="2800" i="1" dirty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b="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ar-AE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точка максимума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92CEA84-0C3F-8F5C-3BCD-403F5D4F84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89577" y="2877500"/>
                <a:ext cx="10249484" cy="27281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651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4479CD-D633-F492-EB33-BE99ADBD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09B2B1-234E-4044-F6F1-F580EBBCF910}"/>
              </a:ext>
            </a:extLst>
          </p:cNvPr>
          <p:cNvSpPr/>
          <p:nvPr/>
        </p:nvSpPr>
        <p:spPr>
          <a:xfrm>
            <a:off x="594358" y="1987826"/>
            <a:ext cx="2334372" cy="371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A337D58-EDC3-DC56-564F-5168B6DA407E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5) Исследование с помощью второй производной: выпуклость</a:t>
            </a:r>
            <a:r>
              <a:rPr lang="en-US" sz="3600" dirty="0"/>
              <a:t> </a:t>
            </a:r>
            <a:r>
              <a:rPr lang="ru-RU" sz="3600" dirty="0"/>
              <a:t>и точки перегиба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178A1E81-4127-CDCA-D979-E9B1C0C27C5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8274" y="1908313"/>
                <a:ext cx="11497558" cy="477869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arenR"/>
                </a:pPr>
                <a:r>
                  <a:rPr lang="ru-RU" sz="2800" dirty="0">
                    <a:solidFill>
                      <a:srgbClr val="002060"/>
                    </a:solidFill>
                  </a:rPr>
                  <a:t>Вторая</a:t>
                </a:r>
                <a:r>
                  <a:rPr lang="ru-RU" sz="2800" b="0" dirty="0">
                    <a:solidFill>
                      <a:srgbClr val="002060"/>
                    </a:solidFill>
                  </a:rPr>
                  <a:t> производная: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514350" indent="-514350">
                  <a:buAutoNum type="arabicParenR" startAt="2"/>
                </a:pPr>
                <a:r>
                  <a:rPr lang="ru-RU" sz="2800" dirty="0">
                    <a:solidFill>
                      <a:srgbClr val="002060"/>
                    </a:solidFill>
                  </a:rPr>
                  <a:t>Интервалы монотонности:</a:t>
                </a:r>
                <a:endParaRPr lang="en-US" sz="2800" dirty="0">
                  <a:solidFill>
                    <a:srgbClr val="002060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b="0" dirty="0">
                  <a:solidFill>
                    <a:srgbClr val="002060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800" dirty="0">
                    <a:solidFill>
                      <a:srgbClr val="002060"/>
                    </a:solidFill>
                  </a:rPr>
                  <a:t>3) </a:t>
                </a:r>
                <a:r>
                  <a:rPr lang="ru-RU" sz="2800" dirty="0">
                    <a:solidFill>
                      <a:srgbClr val="002060"/>
                    </a:solidFill>
                  </a:rPr>
                  <a:t>Точки перегиба нет, потому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нигде не обращается в ноль и не меняет знак</a:t>
                </a:r>
              </a:p>
              <a:p>
                <a:endParaRPr lang="ru-RU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178A1E81-4127-CDCA-D979-E9B1C0C27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8274" y="1908313"/>
                <a:ext cx="11497558" cy="4778693"/>
              </a:xfrm>
              <a:blipFill>
                <a:blip r:embed="rId2"/>
                <a:stretch>
                  <a:fillRect l="-1856" t="-2041" r="-1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F170B00B-F317-E9DA-DFA0-7E545F9335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9370" y="3967243"/>
                <a:ext cx="6270649" cy="1086679"/>
              </a:xfrm>
              <a:prstGeom prst="rect">
                <a:avLst/>
              </a:prstGeom>
            </p:spPr>
            <p:txBody>
              <a:bodyPr vert="horz" lIns="0" tIns="45720" rIns="91440" bIns="45720" rtlCol="0">
                <a:normAutofit/>
              </a:bodyPr>
              <a:lstStyle>
                <a:defPPr>
                  <a:defRPr lang="ru-RU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83464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ar-AE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ar-AE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ar-AE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lang="ar-AE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ar-AE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ar-AE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ar-AE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F170B00B-F317-E9DA-DFA0-7E545F93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370" y="3967243"/>
                <a:ext cx="6270649" cy="1086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321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5ABD4C-A902-E1A7-8965-526DF2A6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4C5769C-065C-81A9-0E43-2AFFD42773E7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6) Проверка наличия асимптот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8A3E992-A43E-0507-6068-9D836C0301C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3000"/>
                  </a:spcBef>
                </a:pP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Вертикальная: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𝑠𝑖𝑛𝑥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и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0"/>
                  </a:spcBef>
                </a:pPr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У функции бесконечные разрыва на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, поэтому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она не стремится к одному числу и не ведёт как прямая</a:t>
                </a:r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8A3E992-A43E-0507-6068-9D836C0301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909" t="-2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42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D734DC-921C-7F54-2622-ABB1547F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987313F-B3BC-6FC8-FB38-73BCEB0BFE9A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7) Пересечения с осями и доп. точки</a:t>
            </a:r>
            <a:endParaRPr lang="ar-A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B6AC4AF3-7460-F714-71DF-53C3E9CF052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Oy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: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не пересекается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Ox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u-RU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pPr algn="ctr"/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и (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B6AC4AF3-7460-F714-71DF-53C3E9CF0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909" t="-2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009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F08862-D6C9-B207-E388-85F79494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A65E09ED-DAD3-E3F7-291B-E18A9D1389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r>
                  <a:rPr lang="en-US" sz="3400" dirty="0"/>
                  <a:t>8)</a:t>
                </a:r>
                <a:r>
                  <a:rPr lang="ru-RU" sz="3400" dirty="0"/>
                  <a:t> График функции </a:t>
                </a:r>
                <a14:m>
                  <m:oMath xmlns:m="http://schemas.openxmlformats.org/officeDocument/2006/math">
                    <m:r>
                      <a:rPr lang="en-US" sz="34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ar-AE" sz="3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b="1" i="1" smtClean="0">
                        <a:latin typeface="Cambria Math" panose="02040503050406030204" pitchFamily="18" charset="0"/>
                      </a:rPr>
                      <m:t>𝒍𝒏</m:t>
                    </m:r>
                    <m:d>
                      <m:dPr>
                        <m:ctrlPr>
                          <a:rPr lang="en-US" sz="3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b="1" i="1" smtClean="0"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US" sz="3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sz="3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br>
                  <a:rPr lang="ar-AE" sz="3400" dirty="0"/>
                </a:br>
                <a:endParaRPr lang="ar-AE" sz="3400" dirty="0"/>
              </a:p>
            </p:txBody>
          </p:sp>
        </mc:Choice>
        <mc:Fallback xmlns="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A65E09ED-DAD3-E3F7-291B-E18A9D138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  <a:blipFill>
                <a:blip r:embed="rId2"/>
                <a:stretch>
                  <a:fillRect l="-26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91F51E9A-59A5-2B47-4FA6-DC542A3CD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7217" y="3705808"/>
                <a:ext cx="6188764" cy="24200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ru-RU" altLang="ru-RU" sz="24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🔵 </a:t>
                </a:r>
                <a:r>
                  <a:rPr kumimoji="0" lang="ru-RU" altLang="ru-RU" sz="2400" b="1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График функции</a:t>
                </a:r>
                <a:endParaRPr kumimoji="0" lang="ru-RU" altLang="ru-RU" sz="24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ru-RU" altLang="ru-RU" sz="24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🔴 </a:t>
                </a:r>
                <a:r>
                  <a:rPr kumimoji="0" lang="ru-RU" altLang="ru-RU" sz="2400" b="1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Максимум (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ru-RU" altLang="ru-RU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ru-RU" altLang="ru-RU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kumimoji="0" lang="en-US" altLang="ru-RU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kumimoji="0" lang="en-US" altLang="ru-RU" sz="2400" b="1" i="1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0" lang="en-US" altLang="ru-RU" sz="2400" b="1" i="1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0" lang="en-US" altLang="ru-RU" sz="2400" b="1" i="1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ru-RU" altLang="ru-RU" sz="24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ru-RU" altLang="ru-RU" sz="24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🟠 </a:t>
                </a:r>
                <a:r>
                  <a:rPr kumimoji="0" lang="ru-RU" altLang="ru-RU" sz="2400" b="1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Дополнительные точки</a:t>
                </a:r>
                <a:endParaRPr kumimoji="0" lang="ru-RU" altLang="ru-RU" sz="24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</a:endParaRPr>
              </a:p>
              <a:p>
                <a:pPr marL="285750" lvl="0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ru-RU" altLang="ru-RU" sz="2400" b="0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🟢 </a:t>
                </a:r>
                <a:r>
                  <a:rPr kumimoji="0" lang="ru-RU" altLang="ru-RU" sz="2400" b="1" i="0" u="none" strike="noStrike" cap="none" normalizeH="0" baseline="0" dirty="0">
                    <a:ln>
                      <a:noFill/>
                    </a:ln>
                    <a:solidFill>
                      <a:srgbClr val="002060"/>
                    </a:solidFill>
                    <a:effectLst/>
                  </a:rPr>
                  <a:t>Нули функции </a:t>
                </a:r>
                <a:r>
                  <a:rPr lang="ru-RU" sz="2400" dirty="0">
                    <a:solidFill>
                      <a:srgbClr val="002060"/>
                    </a:solidFill>
                  </a:rPr>
                  <a:t>(≈0.604; 0) и (≈2.538; 0)</a:t>
                </a:r>
                <a:endParaRPr kumimoji="0" lang="ru-RU" altLang="ru-RU" sz="24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91F51E9A-59A5-2B47-4FA6-DC542A3CD4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7217" y="3705808"/>
                <a:ext cx="6188764" cy="2420021"/>
              </a:xfrm>
              <a:prstGeom prst="rect">
                <a:avLst/>
              </a:prstGeom>
              <a:blipFill>
                <a:blip r:embed="rId3"/>
                <a:stretch>
                  <a:fillRect l="-1280" b="-55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 descr="Изображение выглядит как снимок экрана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7CC11A-4F43-7CFB-3EAE-33752C5B9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53"/>
          <a:stretch>
            <a:fillRect/>
          </a:stretch>
        </p:blipFill>
        <p:spPr>
          <a:xfrm>
            <a:off x="357809" y="1283142"/>
            <a:ext cx="5539408" cy="546126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53D039-D39F-9D34-352E-96B58BB10DE3}"/>
              </a:ext>
            </a:extLst>
          </p:cNvPr>
          <p:cNvSpPr/>
          <p:nvPr/>
        </p:nvSpPr>
        <p:spPr>
          <a:xfrm>
            <a:off x="357809" y="1921565"/>
            <a:ext cx="2504661" cy="4903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280717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6_TF78853419_Win32" id="{64F198E1-15ED-4C37-8B7E-9AFB96C99CBF}" vid="{515DDF0C-3F45-451B-B34F-9EB95F7A6FE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</TotalTime>
  <Words>1429</Words>
  <Application>Microsoft Office PowerPoint</Application>
  <PresentationFormat>Широкоэкранный</PresentationFormat>
  <Paragraphs>167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1" baseType="lpstr">
      <vt:lpstr>ADLaM Display</vt:lpstr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Пользовательская</vt:lpstr>
      <vt:lpstr>Задание 4. Исследование функции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Проверка знак дроби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Васидов Мухаммадсаид Абдуфаттохович</dc:creator>
  <cp:lastModifiedBy>Васидов Мухаммадсаид Абдуфаттохович</cp:lastModifiedBy>
  <cp:revision>13</cp:revision>
  <dcterms:created xsi:type="dcterms:W3CDTF">2025-12-24T05:34:51Z</dcterms:created>
  <dcterms:modified xsi:type="dcterms:W3CDTF">2025-12-25T08:54:24Z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