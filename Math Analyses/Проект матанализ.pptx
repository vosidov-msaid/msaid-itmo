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8"/>
  </p:notesMasterIdLst>
  <p:sldIdLst>
    <p:sldId id="256" r:id="rId3"/>
    <p:sldId id="25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62" r:id="rId19"/>
    <p:sldId id="284" r:id="rId20"/>
    <p:sldId id="285" r:id="rId21"/>
    <p:sldId id="264" r:id="rId22"/>
    <p:sldId id="265" r:id="rId23"/>
    <p:sldId id="268" r:id="rId24"/>
    <p:sldId id="269" r:id="rId25"/>
    <p:sldId id="410" r:id="rId26"/>
    <p:sldId id="413" r:id="rId27"/>
    <p:sldId id="415" r:id="rId28"/>
    <p:sldId id="416" r:id="rId29"/>
    <p:sldId id="417" r:id="rId30"/>
    <p:sldId id="418" r:id="rId31"/>
    <p:sldId id="419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  <p:sldId id="429" r:id="rId42"/>
    <p:sldId id="430" r:id="rId43"/>
    <p:sldId id="431" r:id="rId44"/>
    <p:sldId id="432" r:id="rId45"/>
    <p:sldId id="433" r:id="rId46"/>
    <p:sldId id="434" r:id="rId4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3EA58-AE73-4BC4-BCFC-FCB5DCFA3A5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CA525-070C-43BE-A6BB-0778FEC9A5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16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4E44F-5F1A-81E2-D967-064824A13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2202E8-59C5-4964-CBFA-AF076AD4E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636D34-B090-157A-921C-E2C2DD08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4C965E-97EE-4AED-2851-D46197BD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A22AAD-883A-07EF-5052-5DEB8AAC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41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CC4D1E-F9EF-C833-6D9C-F3E98824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911CF-116E-1F4D-FE57-1BE647CA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D3AE5E-C7FE-FC38-1DBB-FB6E2FF5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5AD7FE-7D5F-F525-AF0B-935391F7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3D0B15-1BC2-ABF7-2554-91A60C30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6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BA0EE-DDA3-3104-9CB8-3645DD09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F5DCE1-88D7-1372-9320-6D70F0FC0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9D4C97-5259-B010-FE5E-821AA41A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F4038F-5054-F3DB-CEAE-45B69965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C6AB23-E33A-2B5D-DF94-ECE5C865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498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632C0-C445-C521-2A3E-7347B68D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E35B6-2323-3F82-7C27-9231AE8BB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9539E1-746D-FD10-4FFA-A1CD3C638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6B2DC-1D5C-F063-057B-4698962B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838D02-FE47-6CC0-E6B4-69B32E2E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DD315B-981C-7B50-D078-1237A93C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65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95FF1-1750-EDD7-38A8-90D738F42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F34332-A28B-E36E-EE9F-A99FAD3F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2EB4C0-C154-8AE9-D0FA-35F3B6755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8DB63F-7563-EC27-DCE7-4E2C2998F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C91DE5-8842-0F03-FAFD-97F6C181D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9168FEF-90B6-50E7-D3F1-2014C6C9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86D45B-C3BB-28DB-6167-CE5A27EA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980ADA-3887-6BFF-A7A3-5F628ECC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43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6EC98-FF64-D545-36B0-669E42DC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0ED2D86-E045-EC86-21CC-F537845E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0B23EB-AC08-BE14-B41F-FEA19B4EC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332407-0F0C-9BF2-8A7A-0E5F7F50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89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C2FA26-0468-8C77-EA1E-0088C3554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8EFB23-6B3F-7303-F315-68214D9E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E55039-D6BC-6020-3AF0-D2DBD880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3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8E8A2-E9B9-EB56-2DDA-7B5162EF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80038F-02DB-1AC9-A32E-101686D52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ED4677-0A98-DD9D-EDCC-81E41989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B0CAAA-9C80-8911-8D01-04F9567B4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B33EC8-CC95-8B50-EF0D-EB1998F6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988EE1-EB1B-BB1D-A887-ED07E439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18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6D372-4113-63EF-5AF4-A3DA66F5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C4B34F-9EA5-7AEB-727E-77C591BBF4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793430-9518-CF81-FFEB-80E0BDE15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4D9F80-C2C6-F089-B171-E8342AAC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E15404-DFA5-1D05-183F-9D05BC61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8C9E17-C2A6-8DBB-888A-EE5553D6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52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0AC9F-7C38-5E01-C2F7-F23C2307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2B213-8CAC-094C-BC8F-2B65AA67C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0ECB1-FB65-5C89-4F6C-3CC18FA6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47D28C-AE9C-7B15-445E-FB0E3189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B586D-E9D3-BF08-FF72-7EC949AB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2D50E3E-0A22-CF87-046B-833335E83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77C077-3FE2-4022-0C41-5A5CE4968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80F756-B8BF-5BDB-0EC7-B8C4C047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A5144B-7C81-BE1C-F0D0-F7395383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79DF3-0D6E-7588-04CD-A9BA5BF3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624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580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Автофигура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 spc="50" baseline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ru-RU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3" name="Номер слайда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2" name="Дата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800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284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101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Полилиния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7614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688978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9436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101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Автофигура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8" name="Полилиния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9" name="Полилиния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ru-RU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ru-RU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ru-RU" sz="2000"/>
            </a:lvl3pPr>
            <a:lvl4pPr marL="1371600" indent="0">
              <a:spcBef>
                <a:spcPts val="1800"/>
              </a:spcBef>
              <a:buFont typeface="+mj-lt"/>
              <a:buNone/>
              <a:defRPr lang="ru-RU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endParaRPr lang="ru-RU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283464" indent="-283464">
              <a:spcBef>
                <a:spcPts val="1800"/>
              </a:spcBef>
              <a:defRPr lang="ru-RU" sz="2000"/>
            </a:lvl2pPr>
            <a:lvl3pPr marL="548640" indent="-283464">
              <a:spcBef>
                <a:spcPts val="1800"/>
              </a:spcBef>
              <a:defRPr lang="ru-RU" sz="2000"/>
            </a:lvl3pPr>
            <a:lvl4pPr marL="822960" indent="-283464">
              <a:spcBef>
                <a:spcPts val="1800"/>
              </a:spcBef>
              <a:defRPr lang="ru-RU" sz="2000"/>
            </a:lvl4pPr>
            <a:lvl5pPr marL="1005840"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3797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рисунок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3" name="Объект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indent="-283464">
              <a:spcBef>
                <a:spcPts val="1800"/>
              </a:spcBef>
              <a:defRPr lang="ru-RU" sz="2000"/>
            </a:lvl2pPr>
            <a:lvl3pPr indent="-283464">
              <a:spcBef>
                <a:spcPts val="1800"/>
              </a:spcBef>
              <a:defRPr lang="ru-RU" sz="2000"/>
            </a:lvl3pPr>
            <a:lvl4pPr indent="-283464">
              <a:spcBef>
                <a:spcPts val="1800"/>
              </a:spcBef>
              <a:defRPr lang="ru-RU" sz="2000"/>
            </a:lvl4pPr>
            <a:lvl5pPr indent="-283464"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4944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Полилиния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7" name="Полилиния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ru-RU" sz="2000"/>
            </a:lvl1pPr>
            <a:lvl2pPr marL="457200" indent="0">
              <a:spcBef>
                <a:spcPts val="1800"/>
              </a:spcBef>
              <a:buNone/>
              <a:defRPr lang="ru-RU" sz="2000"/>
            </a:lvl2pPr>
            <a:lvl3pPr marL="914400" indent="0">
              <a:spcBef>
                <a:spcPts val="1800"/>
              </a:spcBef>
              <a:buNone/>
              <a:defRPr lang="ru-RU" sz="2000"/>
            </a:lvl3pPr>
            <a:lvl4pPr marL="1371600" indent="0">
              <a:spcBef>
                <a:spcPts val="1800"/>
              </a:spcBef>
              <a:buNone/>
              <a:defRPr lang="ru-RU" sz="2000"/>
            </a:lvl4pPr>
            <a:lvl5pPr marL="1828800" indent="0">
              <a:spcBef>
                <a:spcPts val="1800"/>
              </a:spcBef>
              <a:buNone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7338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Полилиния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ru-RU" sz="2000"/>
            </a:lvl1pPr>
            <a:lvl2pPr>
              <a:spcBef>
                <a:spcPts val="6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ru-RU" sz="2000"/>
            </a:lvl1pPr>
            <a:lvl2pPr>
              <a:spcBef>
                <a:spcPts val="1800"/>
              </a:spcBef>
              <a:defRPr lang="ru-RU" sz="2000"/>
            </a:lvl2pPr>
            <a:lvl3pPr>
              <a:spcBef>
                <a:spcPts val="1800"/>
              </a:spcBef>
              <a:defRPr lang="ru-RU" sz="2000"/>
            </a:lvl3pPr>
            <a:lvl4pPr>
              <a:spcBef>
                <a:spcPts val="1800"/>
              </a:spcBef>
              <a:defRPr lang="ru-RU" sz="2000"/>
            </a:lvl4pPr>
            <a:lvl5pPr>
              <a:spcBef>
                <a:spcPts val="1800"/>
              </a:spcBef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5429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ru-RU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sp>
        <p:nvSpPr>
          <p:cNvPr id="9" name="Местозаполнитель таблицы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ru-RU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>
              <a:latin typeface="+mn-lt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247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ru-RU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ru-RU"/>
              <a:t>Заголовок слайда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8" name="Текст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ru-RU" sz="4000"/>
            </a:lvl2pPr>
            <a:lvl3pPr>
              <a:defRPr lang="ru-RU" sz="4000"/>
            </a:lvl3pPr>
            <a:lvl4pPr>
              <a:defRPr lang="ru-RU" sz="4000"/>
            </a:lvl4pPr>
            <a:lvl5pPr>
              <a:defRPr lang="ru-RU" sz="4000"/>
            </a:lvl5pPr>
          </a:lstStyle>
          <a:p>
            <a:pPr lvl="0" rtl="0"/>
            <a:r>
              <a:rPr lang="ru-RU"/>
              <a:t>Текст слайда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2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4CEC7-3A16-9C86-09EE-B31F56CD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9EECB2-42B6-8AB9-FE42-7AC0FD0C6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2E4B07-6267-1055-7A96-8C1FEC88C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82906-5418-4953-B977-5689116ADE75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E0AC3C-224A-733D-48F9-9E559A5B0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297CA1-771F-E805-83DE-DE5F8B100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0229B-C846-477A-B8AE-7AD0A4919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80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30" name="Дата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ru-RU" dirty="0">
              <a:latin typeface="+mn-lt"/>
            </a:endParaRPr>
          </a:p>
        </p:txBody>
      </p:sp>
      <p:sp>
        <p:nvSpPr>
          <p:cNvPr id="32" name="Номер слайда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ru-RU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62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ru-RU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ru-RU">
          <a:solidFill>
            <a:schemeClr val="tx2"/>
          </a:solidFill>
        </a:defRPr>
      </a:lvl2pPr>
      <a:lvl3pPr eaLnBrk="1" hangingPunct="1">
        <a:defRPr lang="ru-RU">
          <a:solidFill>
            <a:schemeClr val="tx2"/>
          </a:solidFill>
        </a:defRPr>
      </a:lvl3pPr>
      <a:lvl4pPr eaLnBrk="1" hangingPunct="1">
        <a:defRPr lang="ru-RU">
          <a:solidFill>
            <a:schemeClr val="tx2"/>
          </a:solidFill>
        </a:defRPr>
      </a:lvl4pPr>
      <a:lvl5pPr eaLnBrk="1" hangingPunct="1">
        <a:defRPr lang="ru-RU">
          <a:solidFill>
            <a:schemeClr val="tx2"/>
          </a:solidFill>
        </a:defRPr>
      </a:lvl5pPr>
      <a:lvl6pPr eaLnBrk="1" hangingPunct="1">
        <a:defRPr lang="ru-RU">
          <a:solidFill>
            <a:schemeClr val="tx2"/>
          </a:solidFill>
        </a:defRPr>
      </a:lvl6pPr>
      <a:lvl7pPr eaLnBrk="1" hangingPunct="1">
        <a:defRPr lang="ru-RU">
          <a:solidFill>
            <a:schemeClr val="tx2"/>
          </a:solidFill>
        </a:defRPr>
      </a:lvl7pPr>
      <a:lvl8pPr eaLnBrk="1" hangingPunct="1">
        <a:defRPr lang="ru-RU">
          <a:solidFill>
            <a:schemeClr val="tx2"/>
          </a:solidFill>
        </a:defRPr>
      </a:lvl8pPr>
      <a:lvl9pPr eaLnBrk="1" hangingPunct="1">
        <a:defRPr lang="ru-RU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D18E4-BD01-6CBD-B1CB-2A3A4938C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матанализ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34A07C-6500-41CF-DF3F-99410F71A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Подготовили Настин Вероника, Куприянов Дмитрий, </a:t>
            </a:r>
            <a:r>
              <a:rPr lang="ru-RU" dirty="0" err="1"/>
              <a:t>Салпагаров</a:t>
            </a:r>
            <a:r>
              <a:rPr lang="ru-RU" dirty="0"/>
              <a:t> Эльдар, </a:t>
            </a:r>
            <a:r>
              <a:rPr lang="ru-RU" dirty="0" err="1"/>
              <a:t>Васидов</a:t>
            </a:r>
            <a:r>
              <a:rPr lang="ru-RU" dirty="0"/>
              <a:t> </a:t>
            </a:r>
            <a:r>
              <a:rPr lang="ru-RU" dirty="0" err="1"/>
              <a:t>Мухаммадсаид</a:t>
            </a:r>
            <a:endParaRPr lang="ru-RU" dirty="0"/>
          </a:p>
          <a:p>
            <a:r>
              <a:rPr lang="ru-RU" dirty="0"/>
              <a:t>Вариант 4</a:t>
            </a:r>
          </a:p>
        </p:txBody>
      </p:sp>
    </p:spTree>
    <p:extLst>
      <p:ext uri="{BB962C8B-B14F-4D97-AF65-F5344CB8AC3E}">
        <p14:creationId xmlns:p14="http://schemas.microsoft.com/office/powerpoint/2010/main" val="288006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CBB49-664D-F9A4-FBF2-1258266DA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1, выполнял Эльдар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06E720-6872-E783-CF26-0094B1825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5662" y="1825625"/>
            <a:ext cx="7000675" cy="4351338"/>
          </a:xfrm>
        </p:spPr>
      </p:pic>
    </p:spTree>
    <p:extLst>
      <p:ext uri="{BB962C8B-B14F-4D97-AF65-F5344CB8AC3E}">
        <p14:creationId xmlns:p14="http://schemas.microsoft.com/office/powerpoint/2010/main" val="232109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59AFA-F5DC-5663-44D2-A4938D40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64A4C2-8937-C34A-B310-25F58B39A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95FD2E5-833A-6A01-9859-57F657AF0E98}"/>
              </a:ext>
            </a:extLst>
          </p:cNvPr>
          <p:cNvSpPr txBox="1">
            <a:spLocks/>
          </p:cNvSpPr>
          <p:nvPr/>
        </p:nvSpPr>
        <p:spPr>
          <a:xfrm>
            <a:off x="838200" y="1852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DEB924-0BC2-DEE1-2B42-A47B8B64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67" y="1266647"/>
            <a:ext cx="4739292" cy="43247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464C5A-1CBC-A62C-884B-977BA9589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38600"/>
            <a:ext cx="643027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0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4EBA8-D219-FB12-B25B-34C5DDDC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A24FB4E-0A81-F206-ADCC-64B5C1621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243" y="1465044"/>
            <a:ext cx="8660823" cy="4065744"/>
          </a:xfrm>
        </p:spPr>
      </p:pic>
    </p:spTree>
    <p:extLst>
      <p:ext uri="{BB962C8B-B14F-4D97-AF65-F5344CB8AC3E}">
        <p14:creationId xmlns:p14="http://schemas.microsoft.com/office/powerpoint/2010/main" val="32703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08D60-3CBE-07D8-9FBD-7336D757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66EB5-72DB-CFF4-C818-4FB6713AB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D4590A-27F9-B701-FBE8-4D997297E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132" y="165594"/>
            <a:ext cx="5511091" cy="37100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4C561E-6090-C166-EFDE-AA3E6330F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67" y="2607196"/>
            <a:ext cx="6447565" cy="350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3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B0052-64C2-DCDD-C740-01D134A8E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Пункт 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CB23EA-866C-656D-0FE7-CAD0D7D89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F1BA2E-F78C-8F95-42D0-D27E61161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558" y="148846"/>
            <a:ext cx="5932883" cy="52017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76B3FF-FC31-F0F3-0377-25ACED42A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58" y="5499436"/>
            <a:ext cx="650648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7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2311D-62D0-CD0C-F674-A0AF22DB5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036ADD-88E5-448F-9B64-FB845BC6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6D2639-1334-3CD3-1FBD-15467FF4F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549" y="2050742"/>
            <a:ext cx="6197975" cy="269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8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3D670-A3C5-9855-022E-582EF90D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E2A05B-B025-7789-FC07-1CD08D996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1F4066-76E7-AD04-2401-1A86BD6FD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69" y="1118865"/>
            <a:ext cx="5992061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4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3E892-0CED-5CC8-E6B4-62736C3C3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Г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5046F19-3045-0ED5-7E8E-CB841CD8F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6415" y="3242161"/>
            <a:ext cx="7659169" cy="2343477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A64B85-B275-0F9E-730C-BEDF1930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56" y="318936"/>
            <a:ext cx="4531064" cy="25315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F91800-C310-3A95-B5AB-D4E9C191B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520" y="409909"/>
            <a:ext cx="5090357" cy="236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0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BE6B3-AD8D-818F-1C0C-29C1A45A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F19816-E9C4-D2FC-4929-96D52CBA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DE5005-2A94-9FE1-B5A8-FBE6BF52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820" y="1660740"/>
            <a:ext cx="5637699" cy="323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8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00232-45BD-2D3B-07F0-868C04EB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DB1006-29F7-92F6-49D9-2ABD4FBF0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8773B-0124-1070-2A67-1CBAF6B45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1280812"/>
            <a:ext cx="7735380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36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42146-3C1F-9E4E-E4EA-C243003A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315B4AE-0783-EAAF-F030-5EEB9C756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3870" y="144757"/>
            <a:ext cx="7392432" cy="272453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3FC92D-92C8-AF13-5258-7D58E4679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633" y="2995789"/>
            <a:ext cx="7020905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8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03B52-51C4-FCA9-E74B-523E0F6A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4A48DEB-49FB-C65E-2CAC-890D2FC89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42" y="1980006"/>
            <a:ext cx="5905458" cy="2386662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B34F34-EEAD-7832-0FF4-1D84CEEE7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39" y="1180975"/>
            <a:ext cx="5863461" cy="14970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7C98786-0ED6-1CE5-F905-3B9451262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39" y="3173337"/>
            <a:ext cx="5863461" cy="140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64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E5E18-AFB2-6243-01A1-0E77A985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Пункт 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D0BA8D-DF21-EDF7-DE46-2D6DFBDB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88A3EB-39B7-D1E1-8079-E4306B8F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83" y="1825625"/>
            <a:ext cx="4380834" cy="255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93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CC390-1131-A4E4-5885-9C3DBB39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Пункт 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AA18BD-D6B5-73F6-66DE-67ED5243D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BB7856-3B6E-94E1-3F44-86CA5FC71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190" y="2388093"/>
            <a:ext cx="5117620" cy="151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94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92AB39-B575-67F9-5798-0473B554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Пункт Г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3116F3D-E3C7-7315-E685-533DAD91A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43" y="2511222"/>
            <a:ext cx="5586443" cy="2986104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EE1929-E13A-6E57-579D-22413C0B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98" y="176140"/>
            <a:ext cx="5795381" cy="20243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643A1F3-564A-B4AA-20EF-CF15AB256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802" y="2511222"/>
            <a:ext cx="6409198" cy="29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30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D2A8CD-20E0-E3A1-C185-76AA98CA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2, выполняла Вероника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297BBDF-7306-135D-DC0D-89A6904E2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7636" y="2990789"/>
            <a:ext cx="7449590" cy="876422"/>
          </a:xfrm>
        </p:spPr>
      </p:pic>
    </p:spTree>
    <p:extLst>
      <p:ext uri="{BB962C8B-B14F-4D97-AF65-F5344CB8AC3E}">
        <p14:creationId xmlns:p14="http://schemas.microsoft.com/office/powerpoint/2010/main" val="1569443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BEDBD-1DB8-63C2-AEB5-695F76FE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22F0C-3559-DB8E-5376-B33999FA2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5A714FE-DD20-29A9-5EAD-5CD63D67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371313"/>
            <a:ext cx="7563906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12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96E42-0536-8E1F-554C-2E52FEC1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188C1D-24A3-5DF2-E834-DD309EF95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47EBE2-5926-7C6A-9FCD-8969D97D6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761628"/>
            <a:ext cx="7344800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70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03696-DD06-505E-7198-81188008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3, выполняла Дима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305965F-DC57-51E2-3F44-4581C522D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659719" cy="4351338"/>
          </a:xfrm>
        </p:spPr>
      </p:pic>
    </p:spTree>
    <p:extLst>
      <p:ext uri="{BB962C8B-B14F-4D97-AF65-F5344CB8AC3E}">
        <p14:creationId xmlns:p14="http://schemas.microsoft.com/office/powerpoint/2010/main" val="3903579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C7FB39-923C-0E9A-95B1-1CC2AF1F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уравнений и таблица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588BB0-E7D2-D8F8-BAAD-0614A86EE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1B7036B-0A64-4D86-A0D5-904452A2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037" y="2172859"/>
            <a:ext cx="6744641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3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156D4-682E-FEB4-086C-94882052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BAE78F-DD36-6CC7-D572-B31E468C1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5E549F5-C54E-718D-230D-DEBB01102628}"/>
              </a:ext>
            </a:extLst>
          </p:cNvPr>
          <p:cNvSpPr txBox="1">
            <a:spLocks/>
          </p:cNvSpPr>
          <p:nvPr/>
        </p:nvSpPr>
        <p:spPr>
          <a:xfrm>
            <a:off x="0" y="-83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Решение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EA3D82-2E9A-E7AF-4B2B-F28D3F80D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1688"/>
            <a:ext cx="5308847" cy="22773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93F806-651A-C831-562A-1681A78FD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02" y="561595"/>
            <a:ext cx="5896798" cy="50108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D57024A-69A2-1433-FE70-782D06D51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0" y="3701075"/>
            <a:ext cx="4706244" cy="22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8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14984-1005-6FD3-96B4-B65889B82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График и ответ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67960-4753-9F87-8112-B97199930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18C301-231C-68FA-CED5-F3F0D928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31" y="1343818"/>
            <a:ext cx="7697274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52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Задание 4. Исследование функции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B4408-FA95-EFED-C845-CEAB2AFCD6DB}"/>
              </a:ext>
            </a:extLst>
          </p:cNvPr>
          <p:cNvSpPr txBox="1"/>
          <p:nvPr/>
        </p:nvSpPr>
        <p:spPr>
          <a:xfrm>
            <a:off x="6309904" y="4306957"/>
            <a:ext cx="5259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Demi"/>
                <a:ea typeface="+mn-ea"/>
                <a:cs typeface="+mn-cs"/>
              </a:rPr>
              <a:t>Васидов Мухаммадсаид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13F62-9CDE-7558-3219-8A70F8EA7C6B}"/>
              </a:ext>
            </a:extLst>
          </p:cNvPr>
          <p:cNvSpPr/>
          <p:nvPr/>
        </p:nvSpPr>
        <p:spPr>
          <a:xfrm>
            <a:off x="595603" y="2015412"/>
            <a:ext cx="2304661" cy="27991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A4715-B260-F17D-1890-7E244D3A1283}"/>
              </a:ext>
            </a:extLst>
          </p:cNvPr>
          <p:cNvSpPr txBox="1"/>
          <p:nvPr/>
        </p:nvSpPr>
        <p:spPr>
          <a:xfrm>
            <a:off x="884852" y="1251723"/>
            <a:ext cx="995731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Даны функции </a:t>
            </a:r>
            <a:r>
              <a:rPr kumimoji="0" lang="ru-RU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f(x)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и </a:t>
            </a:r>
            <a:r>
              <a:rPr kumimoji="0" lang="ru-RU" sz="20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g(x)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. Проведите поочерёдно их полные исследования: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Найдите область определения функции.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Проверьте, является ли функция чётной (нечётной), а также периодической, и укажите, как эти свойства влияют на вид графика функции.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Исследуйте функцию на нулевые значения и найдите промежутки ее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знакопостоянства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Исследуйте функцию с помощью первой производной: найдите интервалы монотонности и экстремумы функции.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Исследуйте функцию с помощью второй производной: найдите интервалы выпуклости (вогнутости) и точки перегиба функции.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Проверьте наличие вертикальных, горизонтальных и наклонных асимптот графика функции.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Найдите точки пересечения графика с координатными осями и (при необходимости) найдите значения функции в некоторых дополнительных точках.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Постройте график. Отметьте на нём все результаты исследования.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082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615B1D23-D5FE-ED1D-9A67-059EA0C03A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89572"/>
                <a:ext cx="6067697" cy="1593507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Функция </m:t>
                      </m:r>
                      <m:r>
                        <a:rPr kumimoji="0" lang="ru-RU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𝒇</m:t>
                      </m:r>
                      <m:d>
                        <m:dPr>
                          <m:ctrlP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𝒙</m:t>
                          </m:r>
                        </m:e>
                      </m:d>
                      <m:r>
                        <a:rPr kumimoji="0" lang="ar-AE" sz="3600" b="1" i="1" u="none" strike="noStrike" kern="1200" cap="none" spc="10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sSup>
                        <m:sSupPr>
                          <m:ctrlP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ar-AE" sz="3600" b="1" i="1" u="none" strike="noStrike" kern="120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</m:ctrlPr>
                            </m:dPr>
                            <m:e>
                              <m:r>
                                <a:rPr kumimoji="0" lang="ar-AE" sz="3600" b="1" i="1" u="none" strike="noStrike" kern="120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𝒙</m:t>
                                  </m:r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+</m:t>
                                  </m:r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𝟐</m:t>
                                  </m:r>
                                </m:num>
                                <m:den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𝒙</m:t>
                                  </m:r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 − </m:t>
                                  </m:r>
                                  <m:r>
                                    <a:rPr kumimoji="0" lang="ar-AE" sz="3600" b="1" i="1" u="none" strike="noStrike" kern="1200" cap="none" spc="10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j-ea"/>
                                      <a:cs typeface="+mj-cs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kumimoji="0" lang="ar-AE" sz="3600" b="1" i="1" u="none" strike="noStrike" kern="1200" cap="none" spc="10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br>
                  <a:rPr kumimoji="0" lang="ar-AE" sz="36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</a:br>
                <a:endParaRPr kumimoji="0" lang="ar-AE" sz="36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Demi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615B1D23-D5FE-ED1D-9A67-059EA0C03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89572"/>
                <a:ext cx="6067697" cy="1593507"/>
              </a:xfrm>
              <a:prstGeom prst="rect">
                <a:avLst/>
              </a:prstGeom>
              <a:blipFill>
                <a:blip r:embed="rId2"/>
                <a:stretch>
                  <a:fillRect b="-45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72C404E-A712-D84C-9061-82CE11E748E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70587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1) Область определения.</a:t>
                </a:r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Функция определена дробь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, то есть знаменатель не должен быть равен нулю: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– 3 ≠ 0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x ≠ </a:t>
                </a:r>
                <a:r>
                  <a:rPr lang="ru-RU" sz="2800" dirty="0">
                    <a:solidFill>
                      <a:srgbClr val="002060"/>
                    </a:solidFill>
                  </a:rPr>
                  <a:t>3</a:t>
                </a: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72C404E-A712-D84C-9061-82CE11E748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705878"/>
              </a:xfrm>
              <a:blipFill>
                <a:blip r:embed="rId3"/>
                <a:stretch>
                  <a:fillRect l="-2037" t="-3604" b="-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Объект 2">
            <a:extLst>
              <a:ext uri="{FF2B5EF4-FFF2-40B4-BE49-F238E27FC236}">
                <a16:creationId xmlns:a16="http://schemas.microsoft.com/office/drawing/2014/main" id="{28A3CCEC-2949-0F62-98E9-61C5BECB89B3}"/>
              </a:ext>
            </a:extLst>
          </p:cNvPr>
          <p:cNvSpPr txBox="1">
            <a:spLocks/>
          </p:cNvSpPr>
          <p:nvPr/>
        </p:nvSpPr>
        <p:spPr>
          <a:xfrm>
            <a:off x="594359" y="5514392"/>
            <a:ext cx="10471747" cy="100304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Ответ: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D(f) = (-∞, 3)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∪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(3, +∞) </a:t>
            </a: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482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9CA5-EDC0-7FA9-5BF1-07482183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A306D-E575-EB4D-EBBE-C9B06CEDEC0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2) Чётность/нечётность и периодичность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F458322-A34C-30F6-09EA-C52E5370BC3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Проверяем </a:t>
                </a:r>
                <a:r>
                  <a:rPr lang="en-US" sz="2800" b="1" i="1" dirty="0">
                    <a:solidFill>
                      <a:srgbClr val="002060"/>
                    </a:solidFill>
                  </a:rPr>
                  <a:t>f(-x)</a:t>
                </a:r>
                <a:r>
                  <a:rPr lang="en-US" sz="2800" dirty="0">
                    <a:solidFill>
                      <a:srgbClr val="002060"/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f(-x) ≠ f(x)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чётная)</a:t>
                </a: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f(-x) ≠ -f(x)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нечётная)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just"/>
                <a:r>
                  <a:rPr lang="ru-RU" sz="2800" dirty="0">
                    <a:solidFill>
                      <a:srgbClr val="002060"/>
                    </a:solidFill>
                  </a:rPr>
                  <a:t>Функция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непериодическая</a:t>
                </a:r>
                <a:r>
                  <a:rPr lang="ru-RU" sz="2800" dirty="0">
                    <a:solidFill>
                      <a:srgbClr val="002060"/>
                    </a:solidFill>
                  </a:rPr>
                  <a:t>, так как при больших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|x|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она стремится к определённому пределу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(у нас это к 1)</a:t>
                </a:r>
                <a:r>
                  <a:rPr lang="ru-RU" sz="2800" dirty="0">
                    <a:solidFill>
                      <a:srgbClr val="002060"/>
                    </a:solidFill>
                  </a:rPr>
                  <a:t>, а непостоянная периодическая функция не имеет предела при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→ ∞ .</a:t>
                </a:r>
                <a:endParaRPr lang="ru-RU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F458322-A34C-30F6-09EA-C52E5370BC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2394" r="-1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805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7FA38-8A5F-0F7B-70B0-D232341C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C51DC36-1A45-FBD0-3D07-E7C1470DD37D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3) Нули функции и промежутки </a:t>
            </a:r>
            <a:r>
              <a:rPr kumimoji="0" lang="ru-RU" sz="36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знакопостоянства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A275F922-971F-06C7-4BCE-A5C47EA3400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9" y="2333766"/>
                <a:ext cx="5501642" cy="432634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Нули функции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f(x) = 0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+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US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= 0</a:t>
                </a: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+ 2 = 0</a:t>
                </a:r>
              </a:p>
              <a:p>
                <a:pPr marL="0" indent="0" algn="ctr">
                  <a:buNone/>
                </a:pPr>
                <a:r>
                  <a:rPr lang="en-US" sz="2800" dirty="0">
                    <a:solidFill>
                      <a:srgbClr val="002060"/>
                    </a:solidFill>
                  </a:rPr>
                  <a:t>x = -2</a:t>
                </a:r>
              </a:p>
              <a:p>
                <a:pPr marL="0" indent="0" algn="ctr">
                  <a:buNone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Ответ:</a:t>
                </a:r>
                <a:r>
                  <a:rPr lang="ru-RU" sz="2800" dirty="0">
                    <a:solidFill>
                      <a:srgbClr val="002060"/>
                    </a:solidFill>
                  </a:rPr>
                  <a:t> единственный ноль функции: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 = -2</a:t>
                </a:r>
                <a:endParaRPr lang="ru-RU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A275F922-971F-06C7-4BCE-A5C47EA34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9" y="2333766"/>
                <a:ext cx="5501642" cy="4326341"/>
              </a:xfrm>
              <a:blipFill>
                <a:blip r:embed="rId2"/>
                <a:stretch>
                  <a:fillRect l="-3876"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Объект 2">
            <a:extLst>
              <a:ext uri="{FF2B5EF4-FFF2-40B4-BE49-F238E27FC236}">
                <a16:creationId xmlns:a16="http://schemas.microsoft.com/office/drawing/2014/main" id="{3697E29B-E721-C6F4-D9A0-35C034EB2E74}"/>
              </a:ext>
            </a:extLst>
          </p:cNvPr>
          <p:cNvSpPr txBox="1">
            <a:spLocks/>
          </p:cNvSpPr>
          <p:nvPr/>
        </p:nvSpPr>
        <p:spPr>
          <a:xfrm>
            <a:off x="6233159" y="2333766"/>
            <a:ext cx="5501642" cy="432634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ru-RU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Промежутки </a:t>
            </a:r>
            <a:r>
              <a:rPr kumimoji="0" lang="ru-RU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знакопостоянства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Разбиваем ось на интервалы: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(-∞,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(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,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3), (3,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+∞)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Ответ: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	f(x) &gt; 0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(-∞,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)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∪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(3,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+∞)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	f(x) &lt; 0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(-2, 3)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	f(-2) = 0</a:t>
            </a:r>
            <a:endParaRPr kumimoji="0" lang="ru-RU" sz="28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A89A04A-7C97-B993-EFD6-45750C5E1168}"/>
              </a:ext>
            </a:extLst>
          </p:cNvPr>
          <p:cNvCxnSpPr/>
          <p:nvPr/>
        </p:nvCxnSpPr>
        <p:spPr>
          <a:xfrm>
            <a:off x="5918579" y="2333766"/>
            <a:ext cx="0" cy="416256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Управляющая кнопка: &quot;Получить сведения&quot;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75DBEE7-4BBA-DFD0-4353-F923829E2872}"/>
              </a:ext>
            </a:extLst>
          </p:cNvPr>
          <p:cNvSpPr/>
          <p:nvPr/>
        </p:nvSpPr>
        <p:spPr>
          <a:xfrm>
            <a:off x="7342497" y="4142093"/>
            <a:ext cx="532263" cy="539089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233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3FC69-AC5F-F681-E571-B8D6F56A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Проверка знак дроби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AD4BFF3-4EB3-5F01-B547-69AA0C5D7E5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/>
              </a:bodyPr>
              <a:lstStyle/>
              <a:p>
                <a:r>
                  <a:rPr lang="ru-RU" sz="2800" dirty="0">
                    <a:solidFill>
                      <a:srgbClr val="002060"/>
                    </a:solidFill>
                  </a:rPr>
                  <a:t>1.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(-∞, </a:t>
                </a:r>
                <a:r>
                  <a:rPr lang="ru-RU" sz="2800" dirty="0">
                    <a:solidFill>
                      <a:srgbClr val="002060"/>
                    </a:solidFill>
                  </a:rPr>
                  <a:t>-2</a:t>
                </a:r>
                <a:r>
                  <a:rPr lang="en-US" sz="2800" dirty="0">
                    <a:solidFill>
                      <a:srgbClr val="002060"/>
                    </a:solidFill>
                  </a:rPr>
                  <a:t>), x = -3: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&gt;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2</a:t>
                </a:r>
                <a:r>
                  <a:rPr lang="ru-RU" sz="2800" dirty="0">
                    <a:solidFill>
                      <a:srgbClr val="002060"/>
                    </a:solidFill>
                  </a:rPr>
                  <a:t>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(-2, 3), x = 0: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en-US" sz="2800" dirty="0">
                    <a:solidFill>
                      <a:srgbClr val="002060"/>
                    </a:solidFill>
                  </a:rPr>
                  <a:t>3</a:t>
                </a:r>
                <a:r>
                  <a:rPr lang="ru-RU" sz="2800" dirty="0">
                    <a:solidFill>
                      <a:srgbClr val="002060"/>
                    </a:solidFill>
                  </a:rPr>
                  <a:t>. </a:t>
                </a: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(3, +∞), x = 4: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&gt;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AD4BFF3-4EB3-5F01-B547-69AA0C5D7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2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Управляющая кнопка: возврат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FA4F04E-875A-876A-367C-2BCFB1A3F755}"/>
              </a:ext>
            </a:extLst>
          </p:cNvPr>
          <p:cNvSpPr/>
          <p:nvPr/>
        </p:nvSpPr>
        <p:spPr>
          <a:xfrm>
            <a:off x="6441742" y="1158576"/>
            <a:ext cx="641445" cy="614149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569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5457B-E1D7-7650-759E-95FC82A0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12336E3-2471-80FA-A0AB-A46E6B2C25F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4) Исследование с помощью первой производной: монотонность и экстремумы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D4393E3-3DCE-A27E-529F-94B96EC8566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•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• 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  <m:f>
                      <m:f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dirty="0">
                    <a:solidFill>
                      <a:srgbClr val="002060"/>
                    </a:solidFill>
                  </a:rPr>
                  <a:t>(Точка допустима)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↔ </m:t>
                      </m:r>
                      <m:sSup>
                        <m:sSupPr>
                          <m:ctrlPr>
                            <a:rPr lang="ru-RU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2800" b="0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</a:rPr>
                  <a:t>Знак производной, монотонность и экстремумы: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Числитель: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для всех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Знаменатель: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для всех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x </a:t>
                </a:r>
                <a:r>
                  <a:rPr lang="en-US" b="1" dirty="0">
                    <a:solidFill>
                      <a:srgbClr val="002060"/>
                    </a:solidFill>
                  </a:rPr>
                  <a:t>≠ 3</a:t>
                </a: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Ответ: </a:t>
                </a:r>
                <a:r>
                  <a:rPr lang="ru-RU" sz="2800" dirty="0">
                    <a:solidFill>
                      <a:srgbClr val="002060"/>
                    </a:solidFill>
                  </a:rPr>
                  <a:t>Функция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убывает</a:t>
                </a:r>
                <a:r>
                  <a:rPr lang="ru-RU" sz="2800" dirty="0">
                    <a:solidFill>
                      <a:srgbClr val="002060"/>
                    </a:solidFill>
                  </a:rPr>
                  <a:t> на интервалах: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(-∞; 3) и (3; +∞), экстремумов нет</a:t>
                </a: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D4393E3-3DCE-A27E-529F-94B96EC856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  <a:blipFill>
                <a:blip r:embed="rId2"/>
                <a:stretch>
                  <a:fillRect l="-1856" r="-742" b="-1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795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DCEE-13A3-6F7F-9B93-A89FB95F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F479E17-693F-04EC-55EB-8330AFC57B8C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5) Исследование с помощью второй производной: выпуклость и точки перегиба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0722442-26C2-9CDD-FD74-4B357A70A93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047157"/>
                <a:ext cx="11497558" cy="4326341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</a:rPr>
                  <a:t>Разобьём ось:</a:t>
                </a:r>
                <a:endParaRPr lang="en-US" sz="2800" b="1" i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(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ru-RU" sz="2800" b="1" dirty="0">
                    <a:solidFill>
                      <a:srgbClr val="002060"/>
                    </a:solidFill>
                  </a:rPr>
                  <a:t>Проверка знака даёт: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>
                    <a:solidFill>
                      <a:srgbClr val="002060"/>
                    </a:solidFill>
                  </a:rPr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:выпукла вниз</m:t>
                    </m:r>
                  </m:oMath>
                </a14:m>
                <a:endParaRPr lang="ru-RU" sz="2800" dirty="0">
                  <a:solidFill>
                    <a:srgbClr val="002060"/>
                  </a:solidFill>
                  <a:ea typeface="ADLaM Display" panose="020F0502020204030204" pitchFamily="2" charset="0"/>
                  <a:cs typeface="ADLaM Display" panose="020F0502020204030204" pitchFamily="2" charset="0"/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>
                    <a:solidFill>
                      <a:srgbClr val="002060"/>
                    </a:solidFill>
                  </a:rPr>
                  <a:t>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−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 ∪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a:rPr lang="ru-RU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ru-RU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выпукла </m:t>
                    </m:r>
                    <m:r>
                      <a:rPr lang="ru-RU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вверх</m:t>
                    </m:r>
                  </m:oMath>
                </a14:m>
                <a:endParaRPr lang="ru-RU" sz="28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0722442-26C2-9CDD-FD74-4B357A70A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047157"/>
                <a:ext cx="11497558" cy="4326341"/>
              </a:xfrm>
              <a:blipFill>
                <a:blip r:embed="rId2"/>
                <a:stretch>
                  <a:fillRect l="-18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D2143B47-5B02-7D52-8115-E092459EA486}"/>
              </a:ext>
            </a:extLst>
          </p:cNvPr>
          <p:cNvCxnSpPr>
            <a:cxnSpLocks/>
          </p:cNvCxnSpPr>
          <p:nvPr/>
        </p:nvCxnSpPr>
        <p:spPr>
          <a:xfrm>
            <a:off x="3057093" y="6182439"/>
            <a:ext cx="6059604" cy="0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Дуга 8">
            <a:extLst>
              <a:ext uri="{FF2B5EF4-FFF2-40B4-BE49-F238E27FC236}">
                <a16:creationId xmlns:a16="http://schemas.microsoft.com/office/drawing/2014/main" id="{0B97A65F-C2C4-4008-8513-572554C1B245}"/>
              </a:ext>
            </a:extLst>
          </p:cNvPr>
          <p:cNvSpPr/>
          <p:nvPr/>
        </p:nvSpPr>
        <p:spPr>
          <a:xfrm>
            <a:off x="928045" y="5721827"/>
            <a:ext cx="2975212" cy="921224"/>
          </a:xfrm>
          <a:prstGeom prst="arc">
            <a:avLst>
              <a:gd name="adj1" fmla="val 14217999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Дуга 9">
            <a:extLst>
              <a:ext uri="{FF2B5EF4-FFF2-40B4-BE49-F238E27FC236}">
                <a16:creationId xmlns:a16="http://schemas.microsoft.com/office/drawing/2014/main" id="{E7DC182C-4EFF-43FF-D417-DA7386A34D7E}"/>
              </a:ext>
            </a:extLst>
          </p:cNvPr>
          <p:cNvSpPr/>
          <p:nvPr/>
        </p:nvSpPr>
        <p:spPr>
          <a:xfrm rot="10800000">
            <a:off x="3903256" y="5721827"/>
            <a:ext cx="1897037" cy="921224"/>
          </a:xfrm>
          <a:prstGeom prst="arc">
            <a:avLst>
              <a:gd name="adj1" fmla="val 10853708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1" name="Дуга 10">
            <a:extLst>
              <a:ext uri="{FF2B5EF4-FFF2-40B4-BE49-F238E27FC236}">
                <a16:creationId xmlns:a16="http://schemas.microsoft.com/office/drawing/2014/main" id="{3C90586B-B21B-F849-641C-27E7E9827499}"/>
              </a:ext>
            </a:extLst>
          </p:cNvPr>
          <p:cNvSpPr/>
          <p:nvPr/>
        </p:nvSpPr>
        <p:spPr>
          <a:xfrm>
            <a:off x="5800293" y="5721827"/>
            <a:ext cx="1897037" cy="921224"/>
          </a:xfrm>
          <a:prstGeom prst="arc">
            <a:avLst>
              <a:gd name="adj1" fmla="val 10853708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2" name="Дуга 11">
            <a:extLst>
              <a:ext uri="{FF2B5EF4-FFF2-40B4-BE49-F238E27FC236}">
                <a16:creationId xmlns:a16="http://schemas.microsoft.com/office/drawing/2014/main" id="{AFE5AC07-B27E-7CC5-994B-78838F23A7EF}"/>
              </a:ext>
            </a:extLst>
          </p:cNvPr>
          <p:cNvSpPr/>
          <p:nvPr/>
        </p:nvSpPr>
        <p:spPr>
          <a:xfrm rot="10800000">
            <a:off x="7697329" y="5721827"/>
            <a:ext cx="1897037" cy="921224"/>
          </a:xfrm>
          <a:prstGeom prst="arc">
            <a:avLst>
              <a:gd name="adj1" fmla="val 13057137"/>
              <a:gd name="adj2" fmla="val 0"/>
            </a:avLst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D8A462-9710-9686-2940-7AF15B94BF05}"/>
              </a:ext>
            </a:extLst>
          </p:cNvPr>
          <p:cNvSpPr txBox="1"/>
          <p:nvPr/>
        </p:nvSpPr>
        <p:spPr>
          <a:xfrm>
            <a:off x="2483888" y="5721826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81FC2-58E8-E473-51F2-8A0349458309}"/>
              </a:ext>
            </a:extLst>
          </p:cNvPr>
          <p:cNvSpPr txBox="1"/>
          <p:nvPr/>
        </p:nvSpPr>
        <p:spPr>
          <a:xfrm>
            <a:off x="6605510" y="5721829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B3CECA-C61C-4B7A-9754-19FD44142332}"/>
              </a:ext>
            </a:extLst>
          </p:cNvPr>
          <p:cNvSpPr txBox="1"/>
          <p:nvPr/>
        </p:nvSpPr>
        <p:spPr>
          <a:xfrm>
            <a:off x="4708474" y="6068129"/>
            <a:ext cx="436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704052-1CC9-9BE4-3001-2937EF73CDC2}"/>
              </a:ext>
            </a:extLst>
          </p:cNvPr>
          <p:cNvSpPr txBox="1"/>
          <p:nvPr/>
        </p:nvSpPr>
        <p:spPr>
          <a:xfrm>
            <a:off x="8407010" y="6142665"/>
            <a:ext cx="436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D02CF-EB6C-B060-2EA7-9A9A44EABBDE}"/>
              </a:ext>
            </a:extLst>
          </p:cNvPr>
          <p:cNvSpPr txBox="1"/>
          <p:nvPr/>
        </p:nvSpPr>
        <p:spPr>
          <a:xfrm>
            <a:off x="2599887" y="4939879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ᴗ</a:t>
            </a:r>
            <a:endParaRPr kumimoji="0" lang="ru-RU" sz="4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7EA2FF-D31E-32B5-CFFD-E8926663C19C}"/>
              </a:ext>
            </a:extLst>
          </p:cNvPr>
          <p:cNvSpPr txBox="1"/>
          <p:nvPr/>
        </p:nvSpPr>
        <p:spPr>
          <a:xfrm>
            <a:off x="6564563" y="4939879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ᴗ</a:t>
            </a:r>
            <a:endParaRPr kumimoji="0" lang="ru-RU" sz="4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E1331-AA7A-DACB-337D-9A62E3B41F64}"/>
              </a:ext>
            </a:extLst>
          </p:cNvPr>
          <p:cNvSpPr txBox="1"/>
          <p:nvPr/>
        </p:nvSpPr>
        <p:spPr>
          <a:xfrm rot="10800000">
            <a:off x="4667527" y="5636805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ᴗ</a:t>
            </a:r>
            <a:endParaRPr kumimoji="0" lang="ru-RU" sz="4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3F4BD-31F1-DDCF-6A17-183F37B93D5C}"/>
              </a:ext>
            </a:extLst>
          </p:cNvPr>
          <p:cNvSpPr txBox="1"/>
          <p:nvPr/>
        </p:nvSpPr>
        <p:spPr>
          <a:xfrm rot="10800000">
            <a:off x="8325123" y="5584695"/>
            <a:ext cx="4367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ᴗ</a:t>
            </a:r>
            <a:endParaRPr kumimoji="0" lang="ru-RU" sz="4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501FB6-FD99-CD99-6F93-DDCDE2B1A19B}"/>
              </a:ext>
            </a:extLst>
          </p:cNvPr>
          <p:cNvSpPr txBox="1"/>
          <p:nvPr/>
        </p:nvSpPr>
        <p:spPr>
          <a:xfrm>
            <a:off x="9075748" y="6052304"/>
            <a:ext cx="436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х</a:t>
            </a:r>
          </a:p>
        </p:txBody>
      </p:sp>
    </p:spTree>
    <p:extLst>
      <p:ext uri="{BB962C8B-B14F-4D97-AF65-F5344CB8AC3E}">
        <p14:creationId xmlns:p14="http://schemas.microsoft.com/office/powerpoint/2010/main" val="482638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742E-9C01-99E6-6E75-C5F1F2C6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EFDE52F-0AEC-1B7A-D864-9F73A9C5C47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5.2) Точки перегиба</a:t>
            </a:r>
            <a:endParaRPr kumimoji="0" lang="ar-AE" sz="40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4FD28918-1698-A32A-C4C5-BCBB4293043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74710"/>
                <a:ext cx="11497558" cy="436728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, когда числитель равен нулю: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ru-RU" sz="2800" dirty="0">
                    <a:solidFill>
                      <a:srgbClr val="002060"/>
                    </a:solidFill>
                  </a:rPr>
                  <a:t>30(x+2)(x+7) = 0</a:t>
                </a:r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Точки перегиба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x = -7: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(−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2800" b="1" dirty="0">
                    <a:solidFill>
                      <a:srgbClr val="002060"/>
                    </a:solidFill>
                  </a:rPr>
                  <a:t>x = -2: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→(−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4FD28918-1698-A32A-C4C5-BCBB42930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74710"/>
                <a:ext cx="11497558" cy="4367284"/>
              </a:xfrm>
              <a:blipFill>
                <a:blip r:embed="rId2"/>
                <a:stretch>
                  <a:fillRect l="-1697" t="-2374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1572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6414-F087-D6F6-F291-A561C692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D650469-2040-BB64-3EF2-5F2E163B602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6) Проверка наличия асимптот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8403073D-7518-2328-EDBE-EE07825BE21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Вертикальная: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Горизонтальная: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BR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sz="280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BR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</m:func>
                    <m:sSup>
                      <m:sSupPr>
                        <m:ctrlPr>
                          <a:rPr lang="pt-BR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Наклонной нет (так как есть горизонтальная уже есть)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8403073D-7518-2328-EDBE-EE07825BE2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 b="-4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282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36E82-B554-D50C-A9FE-507272144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386B4C9-86FD-8609-8FE6-606B256D4BF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7) Пересечения с осями и доп. точки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D73B25F-9FBC-938C-36C5-FC77B5A15D0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Ox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(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нули):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Oy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ru-RU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Дополнительно удобно для эскиза:</a:t>
                </a: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x = 2: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x = 4: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DD73B25F-9FBC-938C-36C5-FC77B5A15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750" t="-3412" b="-19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741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E65B-5329-2B0C-3A51-97B117C2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87F9596E-6190-0E7B-B90B-F415FEDE03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  <a:t>8)</a:t>
                </a:r>
                <a:r>
                  <a:rPr kumimoji="0" lang="ru-RU" sz="36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  <a:t> </a:t>
                </a:r>
                <a:r>
                  <a:rPr kumimoji="0" lang="ru-RU" sz="40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  <a:t>График функции </a:t>
                </a:r>
                <a14:m>
                  <m:oMath xmlns:m="http://schemas.openxmlformats.org/officeDocument/2006/math">
                    <m:r>
                      <a:rPr kumimoji="0" lang="ru-RU" sz="3600" b="1" i="1" u="none" strike="noStrike" kern="1200" cap="none" spc="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𝒇</m:t>
                    </m:r>
                    <m:d>
                      <m:dPr>
                        <m:ctrlPr>
                          <a:rPr kumimoji="0" lang="ar-AE" sz="36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kumimoji="0" lang="ar-AE" sz="36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𝒙</m:t>
                        </m:r>
                      </m:e>
                    </m:d>
                    <m:r>
                      <a:rPr kumimoji="0" lang="ar-AE" sz="3600" b="1" i="1" u="none" strike="noStrike" kern="1200" cap="none" spc="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sSup>
                      <m:sSupPr>
                        <m:ctrlPr>
                          <a:rPr kumimoji="0" lang="ar-AE" sz="36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ar-AE" sz="3600" b="1" i="1" u="none" strike="noStrike" kern="1200" cap="none" spc="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</m:ctrlPr>
                          </m:dPr>
                          <m:e>
                            <m:r>
                              <a:rPr kumimoji="0" lang="ar-AE" sz="3600" b="1" i="1" u="none" strike="noStrike" kern="1200" cap="none" spc="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 </m:t>
                            </m:r>
                            <m:f>
                              <m:fPr>
                                <m:ctrlP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</m:ctrlPr>
                              </m:fPr>
                              <m:num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𝒙</m:t>
                                </m:r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+</m:t>
                                </m:r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𝒙</m:t>
                                </m:r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 − </m:t>
                                </m:r>
                                <m:r>
                                  <a:rPr kumimoji="0" lang="ar-AE" sz="3600" b="1" i="1" u="none" strike="noStrike" kern="1200" cap="none" spc="10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kumimoji="0" lang="ar-AE" sz="3600" b="1" i="1" u="none" strike="noStrike" kern="1200" cap="none" spc="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kumimoji="0" lang="ar-AE" sz="36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𝟑</m:t>
                        </m:r>
                      </m:sup>
                    </m:sSup>
                  </m:oMath>
                </a14:m>
                <a:br>
                  <a:rPr kumimoji="0" lang="ar-AE" sz="36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</a:br>
                <a:endParaRPr kumimoji="0" lang="ar-AE" sz="36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Demi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87F9596E-6190-0E7B-B90B-F415FEDE0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  <a:blipFill>
                <a:blip r:embed="rId2"/>
                <a:stretch>
                  <a:fillRect l="-2825" t="-15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 descr="Изображение выглядит как линия, График, текст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52D5E1-A7CE-EF67-099A-2CADCDA83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25" y="1320270"/>
            <a:ext cx="6875741" cy="5347799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9CA2DD1B-8B6C-966A-BEC3-F61799063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266" y="2318898"/>
            <a:ext cx="497673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🔵 </a:t>
            </a:r>
            <a:r>
              <a:rPr kumimoji="0" lang="ru-RU" alt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График функции</a:t>
            </a:r>
            <a:endParaRPr kumimoji="0" lang="ru-RU" altLang="ru-RU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🔴 </a:t>
            </a:r>
            <a:r>
              <a:rPr kumimoji="0" lang="ru-RU" alt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Асимптоты</a:t>
            </a: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вертикальная x = 3 и горизонтальная y = 1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🟠 </a:t>
            </a:r>
            <a:r>
              <a:rPr kumimoji="0" lang="ru-RU" alt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Точки перегиба</a:t>
            </a: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(-7; 0.125) и (-2; 0)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🟢 </a:t>
            </a:r>
            <a:r>
              <a:rPr kumimoji="0" lang="ru-RU" alt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Точка пересечения с осью Oy</a:t>
            </a:r>
            <a:r>
              <a:rPr kumimoji="0" lang="ru-RU" alt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 (0; -8/27) </a:t>
            </a:r>
          </a:p>
        </p:txBody>
      </p:sp>
    </p:spTree>
    <p:extLst>
      <p:ext uri="{BB962C8B-B14F-4D97-AF65-F5344CB8AC3E}">
        <p14:creationId xmlns:p14="http://schemas.microsoft.com/office/powerpoint/2010/main" val="2356817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9E77-7353-96CE-9387-47E5C1CF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94FF8113-419A-9733-6944-9B0B0F6533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89572"/>
                <a:ext cx="7457958" cy="1593507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Функция </m:t>
                      </m:r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𝒈</m:t>
                      </m:r>
                      <m:d>
                        <m:dPr>
                          <m:ctrlP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kumimoji="0" lang="ar-AE" sz="3600" b="1" i="1" u="none" strike="noStrike" kern="1200" cap="none" spc="10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𝒙</m:t>
                          </m:r>
                        </m:e>
                      </m:d>
                      <m:r>
                        <a:rPr kumimoji="0" lang="ar-AE" sz="3600" b="1" i="1" u="none" strike="noStrike" kern="1200" cap="none" spc="10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=</m:t>
                      </m:r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𝒍𝒏</m:t>
                      </m:r>
                      <m:d>
                        <m:dPr>
                          <m:ctrlPr>
                            <a:rPr kumimoji="0" lang="en-US" sz="3600" b="1" i="1" u="none" strike="noStrike" kern="1200" cap="none" spc="10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</m:ctrlPr>
                        </m:dPr>
                        <m:e>
                          <m:r>
                            <a:rPr kumimoji="0" lang="en-US" sz="3600" b="1" i="1" u="none" strike="noStrike" kern="1200" cap="none" spc="10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𝒔𝒊𝒏</m:t>
                          </m:r>
                          <m:r>
                            <a:rPr kumimoji="0" lang="en-US" sz="3600" b="1" i="1" u="none" strike="noStrike" kern="1200" cap="none" spc="10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 </m:t>
                          </m:r>
                          <m:r>
                            <a:rPr kumimoji="0" lang="en-US" sz="3600" b="1" i="1" u="none" strike="noStrike" kern="1200" cap="none" spc="10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</a:rPr>
                            <m:t>𝒙</m:t>
                          </m:r>
                        </m:e>
                      </m:d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+</m:t>
                      </m:r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𝒔𝒊𝒏</m:t>
                      </m:r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 </m:t>
                      </m:r>
                      <m:r>
                        <a:rPr kumimoji="0" lang="en-US" sz="3600" b="1" i="1" u="none" strike="noStrike" kern="1200" cap="none" spc="10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</a:rPr>
                        <m:t>𝒙</m:t>
                      </m:r>
                    </m:oMath>
                  </m:oMathPara>
                </a14:m>
                <a:br>
                  <a:rPr kumimoji="0" lang="ar-AE" sz="36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</a:br>
                <a:endParaRPr kumimoji="0" lang="ar-AE" sz="36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Demi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94FF8113-419A-9733-6944-9B0B0F653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89572"/>
                <a:ext cx="7457958" cy="15935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7251414-0016-5B20-CFCD-FDC97338583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198967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dirty="0">
                    <a:solidFill>
                      <a:srgbClr val="002060"/>
                    </a:solidFill>
                  </a:rPr>
                  <a:t>Область определения.</a:t>
                </a:r>
              </a:p>
              <a:p>
                <a:pPr algn="ctr"/>
                <a:endParaRPr lang="en-US" sz="2800" b="1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при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 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  <a:ea typeface="Cambria Math" panose="02040503050406030204" pitchFamily="18" charset="0"/>
                </a:endParaRPr>
              </a:p>
              <a:p>
                <a:pPr algn="ctr"/>
                <a:endParaRPr lang="ru-RU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7251414-0016-5B20-CFCD-FDC9733858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537925"/>
                <a:ext cx="10471747" cy="2198967"/>
              </a:xfrm>
              <a:blipFill>
                <a:blip r:embed="rId3"/>
                <a:stretch>
                  <a:fillRect l="-1921" t="-44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D7D496AD-4E49-08D7-350A-B6348D7BB4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0126" y="4990218"/>
                <a:ext cx="10471747" cy="1003040"/>
              </a:xfrm>
              <a:prstGeom prst="rect">
                <a:avLst/>
              </a:prstGeom>
            </p:spPr>
            <p:txBody>
              <a:bodyPr vert="horz" lIns="0" tIns="45720" rIns="91440" bIns="45720" rtlCol="0">
                <a:normAutofit/>
              </a:bodyPr>
              <a:lstStyle>
                <a:defPPr>
                  <a:defRPr lang="ru-RU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ru-RU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Ответ: </a:t>
                </a: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D(g) =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US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∈</m:t>
                        </m:r>
                        <m:r>
                          <a:rPr kumimoji="0" lang="en-US" sz="3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ℤ</m:t>
                        </m:r>
                      </m:sub>
                      <m:sup/>
                      <m:e>
                        <m:d>
                          <m:dPr>
                            <m:ctrlP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𝜋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 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𝜋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𝜋</m:t>
                            </m:r>
                            <m:r>
                              <a:rPr kumimoji="0" lang="en-US" sz="3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206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D7D496AD-4E49-08D7-350A-B6348D7BB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26" y="4990218"/>
                <a:ext cx="10471747" cy="1003040"/>
              </a:xfrm>
              <a:prstGeom prst="rect">
                <a:avLst/>
              </a:prstGeom>
              <a:blipFill>
                <a:blip r:embed="rId4"/>
                <a:stretch>
                  <a:fillRect l="-2619" t="-158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945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E43AE-A4B6-1DFE-B8E3-527F6556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7076C49-49C2-9038-2FF1-B6FA3B650AD1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2) Чётность/нечётность и периодичность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D3B97C9-029D-5CC0-D6F3-D4F25EB6B9D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800" dirty="0">
                    <a:solidFill>
                      <a:srgbClr val="002060"/>
                    </a:solidFill>
                  </a:rPr>
                  <a:t>Проверяем </a:t>
                </a:r>
                <a:r>
                  <a:rPr lang="en-US" sz="2800" b="1" i="1" dirty="0">
                    <a:solidFill>
                      <a:srgbClr val="002060"/>
                    </a:solidFill>
                  </a:rPr>
                  <a:t>f(-x)</a:t>
                </a:r>
                <a:r>
                  <a:rPr lang="en-US" sz="2800" dirty="0">
                    <a:solidFill>
                      <a:srgbClr val="002060"/>
                    </a:solidFill>
                  </a:rPr>
                  <a:t>:</a:t>
                </a:r>
              </a:p>
              <a:p>
                <a:pPr>
                  <a:spcBef>
                    <a:spcPts val="0"/>
                  </a:spcBef>
                </a:pPr>
                <a:endParaRPr lang="en-US" sz="2600" i="1" dirty="0">
                  <a:solidFill>
                    <a:srgbClr val="00206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 smtClean="0">
                          <a:solidFill>
                            <a:srgbClr val="002060"/>
                          </a:solidFill>
                        </a:rPr>
                        <m:t>𝑔</m:t>
                      </m:r>
                      <m:d>
                        <m:dPr>
                          <m:ctrlPr>
                            <a:rPr lang="ru-RU" sz="2600" i="1">
                              <a:solidFill>
                                <a:srgbClr val="002060"/>
                              </a:solidFill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rgbClr val="002060"/>
                              </a:solidFill>
                            </a:rPr>
                            <m:t>−</m:t>
                          </m:r>
                          <m:r>
                            <a:rPr lang="en-US" sz="2600" i="1">
                              <a:solidFill>
                                <a:srgbClr val="002060"/>
                              </a:solidFill>
                            </a:rPr>
                            <m:t>𝑥</m:t>
                          </m:r>
                        </m:e>
                      </m:d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=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𝑙𝑛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 (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)) +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) =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𝑙𝑛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 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) + (−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𝑠𝑖𝑛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𝑥</m:t>
                      </m:r>
                      <m:r>
                        <a:rPr lang="en-US" sz="2600" i="1">
                          <a:solidFill>
                            <a:srgbClr val="002060"/>
                          </a:solidFill>
                        </a:rPr>
                        <m:t>) </m:t>
                      </m:r>
                    </m:oMath>
                  </m:oMathPara>
                </a14:m>
                <a:endParaRPr lang="en-US" sz="2600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g(-x) ≠ g(x)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чётная)</a:t>
                </a:r>
              </a:p>
              <a:p>
                <a:pPr algn="ctr"/>
                <a:r>
                  <a:rPr lang="en-US" sz="2800" i="1" dirty="0">
                    <a:solidFill>
                      <a:srgbClr val="002060"/>
                    </a:solidFill>
                  </a:rPr>
                  <a:t>g(-x) ≠ -g(x) 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(</a:t>
                </a:r>
                <a:r>
                  <a:rPr lang="ru-RU" sz="2800" b="1" dirty="0">
                    <a:solidFill>
                      <a:srgbClr val="002060"/>
                    </a:solidFill>
                  </a:rPr>
                  <a:t>не нечётная)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</a:t>
                </a:r>
              </a:p>
              <a:p>
                <a:r>
                  <a:rPr lang="ru-RU" sz="2800" dirty="0">
                    <a:solidFill>
                      <a:srgbClr val="002060"/>
                    </a:solidFill>
                  </a:rPr>
                  <a:t>Периодичность:</a:t>
                </a:r>
              </a:p>
              <a:p>
                <a:pPr algn="ctr"/>
                <a:r>
                  <a:rPr lang="ru-RU" sz="2800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ru-RU" sz="2800" i="1">
                        <a:solidFill>
                          <a:srgbClr val="002060"/>
                        </a:solidFill>
                      </a:rPr>
                      <m:t>𝑔</m:t>
                    </m:r>
                    <m:d>
                      <m:dPr>
                        <m:ctrlPr>
                          <a:rPr lang="ru-RU" sz="2800" i="1">
                            <a:solidFill>
                              <a:srgbClr val="002060"/>
                            </a:solidFill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</a:rPr>
                          <m:t>𝑥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</a:rPr>
                          <m:t> + </m:t>
                        </m:r>
                        <m:r>
                          <a:rPr lang="ru-RU" sz="2800" i="1">
                            <a:solidFill>
                              <a:srgbClr val="002060"/>
                            </a:solidFill>
                          </a:rPr>
                          <m:t>2</m:t>
                        </m:r>
                        <m:r>
                          <a:rPr lang="ru-RU" sz="2800" i="1">
                            <a:solidFill>
                              <a:srgbClr val="002060"/>
                            </a:solidFill>
                          </a:rPr>
                          <m:t>𝜋</m:t>
                        </m:r>
                      </m:e>
                    </m:d>
                    <m:r>
                      <a:rPr lang="en-US" sz="2800" i="1">
                        <a:solidFill>
                          <a:srgbClr val="002060"/>
                        </a:solidFill>
                      </a:rPr>
                      <m:t> </m:t>
                    </m:r>
                    <m:r>
                      <a:rPr lang="ru-RU" sz="2800" i="1">
                        <a:solidFill>
                          <a:srgbClr val="002060"/>
                        </a:solidFill>
                      </a:rPr>
                      <m:t>= </m:t>
                    </m:r>
                    <m:r>
                      <a:rPr lang="ru-RU" sz="2800" i="1">
                        <a:solidFill>
                          <a:srgbClr val="002060"/>
                        </a:solidFill>
                      </a:rPr>
                      <m:t>𝑙𝑛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(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+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)) +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+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) =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𝑙𝑛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) +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𝑠𝑖𝑛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 =</m:t>
                    </m:r>
                    <m:r>
                      <a:rPr lang="ru-RU" sz="2800" i="1">
                        <a:solidFill>
                          <a:srgbClr val="002060"/>
                        </a:solidFill>
                      </a:rPr>
                      <m:t>𝑔</m:t>
                    </m:r>
                    <m:r>
                      <a:rPr lang="ru-RU" sz="2800" i="1">
                        <a:solidFill>
                          <a:srgbClr val="002060"/>
                        </a:solidFill>
                      </a:rPr>
                      <m:t>(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</a:rPr>
                      <m:t>)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r>
                  <a:rPr lang="ru-RU" sz="2800" dirty="0">
                    <a:solidFill>
                      <a:srgbClr val="002060"/>
                    </a:solidFill>
                  </a:rPr>
                  <a:t>	Функция периодическая с периодом 2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CD3B97C9-029D-5CC0-D6F3-D4F25EB6B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333766"/>
                <a:ext cx="10471747" cy="4326341"/>
              </a:xfrm>
              <a:blipFill>
                <a:blip r:embed="rId2"/>
                <a:stretch>
                  <a:fillRect l="-2037" t="-3380" b="-33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49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C2ED-4158-5E86-EAFA-D7A3B144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931C9E3-8F84-A502-F345-3570E8C50AF1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3.1) Нулевые значения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F7D3BE1-E2C0-85DB-1FF7-7C3B9FE0FE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ru-RU" sz="2800" b="1" dirty="0">
                    <a:solidFill>
                      <a:srgbClr val="002060"/>
                    </a:solidFill>
                  </a:rPr>
                  <a:t>Нулевые значения</a:t>
                </a:r>
                <a:endParaRPr lang="en-US" sz="2800" b="1" dirty="0">
                  <a:solidFill>
                    <a:srgbClr val="002060"/>
                  </a:solidFill>
                </a:endParaRPr>
              </a:p>
              <a:p>
                <a:pPr algn="ctr">
                  <a:spcBef>
                    <a:spcPts val="0"/>
                  </a:spcBef>
                </a:pPr>
                <a:endParaRPr lang="ru-RU" sz="2800" b="1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567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и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ru-RU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ru-RU" sz="28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spcBef>
                    <a:spcPts val="600"/>
                  </a:spcBef>
                </a:pPr>
                <a:endParaRPr lang="ru-RU" sz="2800" b="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𝑎𝑟𝑐𝑠𝑖𝑛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F7D3BE1-E2C0-85DB-1FF7-7C3B9FE0F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  <a:blipFill>
                <a:blip r:embed="rId2"/>
                <a:stretch>
                  <a:fillRect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9313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CE8AD-D14D-FD4B-1C9A-F3AFE6728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F3B03B5-F353-8D38-B940-68A0EE02A4A8}"/>
              </a:ext>
            </a:extLst>
          </p:cNvPr>
          <p:cNvSpPr txBox="1">
            <a:spLocks/>
          </p:cNvSpPr>
          <p:nvPr/>
        </p:nvSpPr>
        <p:spPr>
          <a:xfrm>
            <a:off x="594358" y="606667"/>
            <a:ext cx="9305420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3.2) Промежутки </a:t>
            </a:r>
            <a:r>
              <a:rPr kumimoji="0" lang="ru-RU" sz="3600" b="1" i="0" u="none" strike="noStrike" kern="1200" cap="none" spc="1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знакопостоянства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AD0A08C-4B03-5FEA-42CD-E526234E5C7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</a:rPr>
                  <a:t>На каждом интервале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&lt;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∪</m:t>
                    </m:r>
                    <m:d>
                      <m:d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&gt;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d>
                      <m:dPr>
                        <m:ctrlP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rgbClr val="002060"/>
                    </a:solidFill>
                  </a:rPr>
                  <a:t>g(x) =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 0:</a:t>
                </a:r>
              </a:p>
              <a:p>
                <a:r>
                  <a:rPr lang="en-US" sz="2800" b="1" dirty="0">
                    <a:solidFill>
                      <a:srgbClr val="00206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и  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2800" b="1" dirty="0">
                  <a:solidFill>
                    <a:srgbClr val="002060"/>
                  </a:solidFill>
                </a:endParaRPr>
              </a:p>
              <a:p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6AD0A08C-4B03-5FEA-42CD-E526234E5C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594358" y="2267506"/>
                <a:ext cx="9901364" cy="4326341"/>
              </a:xfrm>
              <a:blipFill>
                <a:blip r:embed="rId2"/>
                <a:stretch>
                  <a:fillRect l="-2154" t="-23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446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67BB-A606-5B96-8708-C6F42E5F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CDDB636-332A-5B3C-A543-F84BCB00DA74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4.1) Исследование с помощью первой производной: монотонность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EC14724-4363-37DF-B85C-0F75E2B9861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b="0" dirty="0">
                    <a:solidFill>
                      <a:srgbClr val="002060"/>
                    </a:solidFill>
                  </a:rPr>
                  <a:t>Первая производная: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514350" indent="-514350">
                  <a:buAutoNum type="arabicParenR" startAt="2"/>
                </a:pPr>
                <a:r>
                  <a:rPr lang="ru-RU" sz="2800" dirty="0">
                    <a:solidFill>
                      <a:srgbClr val="002060"/>
                    </a:solidFill>
                  </a:rPr>
                  <a:t>Интервалы монотонности: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(2</a:t>
                </a:r>
                <a14:m>
                  <m:oMath xmlns:m="http://schemas.openxmlformats.org/officeDocument/2006/math"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ru-RU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→воз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растает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</a:rPr>
                  <a:t>x </a:t>
                </a:r>
                <a:r>
                  <a:rPr lang="el-G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ar-AE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→уб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ывает</m:t>
                    </m:r>
                  </m:oMath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EC14724-4363-37DF-B85C-0F75E2B98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1526" y="2347413"/>
                <a:ext cx="11497558" cy="4326341"/>
              </a:xfrm>
              <a:blipFill>
                <a:blip r:embed="rId2"/>
                <a:stretch>
                  <a:fillRect l="-1750" t="-2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3281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8714C-41D8-AD7F-2418-722D6138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39D47F8-FA13-FFEE-FDAF-3B9619216FD0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4.2) Исследование с помощью первой производной: экстремумы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92CEA84-0C3F-8F5C-3BCD-403F5D4F847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89577" y="2877500"/>
                <a:ext cx="10249484" cy="2728170"/>
              </a:xfr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u-RU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ru-RU" sz="2800" i="1" dirty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ar-AE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sz="2800" i="1" dirty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b="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ar-AE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ru-RU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точка максимума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92CEA84-0C3F-8F5C-3BCD-403F5D4F84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89577" y="2877500"/>
                <a:ext cx="10249484" cy="272817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651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79CD-D633-F492-EB33-BE99ADBD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09B2B1-234E-4044-F6F1-F580EBBCF910}"/>
              </a:ext>
            </a:extLst>
          </p:cNvPr>
          <p:cNvSpPr/>
          <p:nvPr/>
        </p:nvSpPr>
        <p:spPr>
          <a:xfrm>
            <a:off x="594358" y="1987826"/>
            <a:ext cx="2334372" cy="37106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337D58-EDC3-DC56-564F-5168B6DA407E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5) Исследование с помощью второй производной: выпуклость</a:t>
            </a:r>
            <a:r>
              <a:rPr kumimoji="0" lang="en-US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 </a:t>
            </a: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и точки перегиба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178A1E81-4127-CDCA-D979-E9B1C0C27C5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58274" y="1908313"/>
                <a:ext cx="11497558" cy="477869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arenR"/>
                </a:pPr>
                <a:r>
                  <a:rPr lang="ru-RU" sz="2800" dirty="0">
                    <a:solidFill>
                      <a:srgbClr val="002060"/>
                    </a:solidFill>
                  </a:rPr>
                  <a:t>Вторая</a:t>
                </a:r>
                <a:r>
                  <a:rPr lang="ru-RU" sz="2800" b="0" dirty="0">
                    <a:solidFill>
                      <a:srgbClr val="002060"/>
                    </a:solidFill>
                  </a:rPr>
                  <a:t> производная: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ru-RU" sz="2800" dirty="0">
                  <a:solidFill>
                    <a:srgbClr val="002060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 marL="514350" indent="-514350">
                  <a:buAutoNum type="arabicParenR" startAt="2"/>
                </a:pPr>
                <a:r>
                  <a:rPr lang="ru-RU" sz="2800" dirty="0">
                    <a:solidFill>
                      <a:srgbClr val="002060"/>
                    </a:solidFill>
                  </a:rPr>
                  <a:t>Интервалы монотонности:</a:t>
                </a:r>
                <a:endParaRPr lang="en-US" sz="2800" dirty="0">
                  <a:solidFill>
                    <a:srgbClr val="002060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b="0" dirty="0">
                  <a:solidFill>
                    <a:srgbClr val="002060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800" dirty="0">
                    <a:solidFill>
                      <a:srgbClr val="002060"/>
                    </a:solidFill>
                  </a:rPr>
                  <a:t>3) </a:t>
                </a:r>
                <a:r>
                  <a:rPr lang="ru-RU" sz="2800" dirty="0">
                    <a:solidFill>
                      <a:srgbClr val="002060"/>
                    </a:solidFill>
                  </a:rPr>
                  <a:t>Точки перегиба нет, потому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800" b="1" dirty="0">
                    <a:solidFill>
                      <a:srgbClr val="002060"/>
                    </a:solidFill>
                  </a:rPr>
                  <a:t> </a:t>
                </a:r>
                <a:r>
                  <a:rPr lang="ru-RU" sz="2800" dirty="0">
                    <a:solidFill>
                      <a:srgbClr val="002060"/>
                    </a:solidFill>
                  </a:rPr>
                  <a:t>нигде не обращается в ноль и не меняет знак</a:t>
                </a:r>
              </a:p>
              <a:p>
                <a:endParaRPr lang="ru-RU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178A1E81-4127-CDCA-D979-E9B1C0C27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58274" y="1908313"/>
                <a:ext cx="11497558" cy="4778693"/>
              </a:xfrm>
              <a:blipFill>
                <a:blip r:embed="rId2"/>
                <a:stretch>
                  <a:fillRect l="-1856" t="-2041" r="-1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F170B00B-F317-E9DA-DFA0-7E545F933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9370" y="3967243"/>
                <a:ext cx="6270649" cy="1086679"/>
              </a:xfrm>
              <a:prstGeom prst="rect">
                <a:avLst/>
              </a:prstGeom>
            </p:spPr>
            <p:txBody>
              <a:bodyPr vert="horz" lIns="0" tIns="45720" rIns="91440" bIns="45720" rtlCol="0">
                <a:normAutofit/>
              </a:bodyPr>
              <a:lstStyle>
                <a:defPPr>
                  <a:defRPr lang="ru-RU"/>
                </a:defPPr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None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83464" algn="l" defTabSz="9144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83464" algn="l" defTabSz="914400" rtl="0" eaLnBrk="1" latinLnBrk="0" hangingPunct="1">
                  <a:lnSpc>
                    <a:spcPct val="90000"/>
                  </a:lnSpc>
                  <a:spcBef>
                    <a:spcPts val="1800"/>
                  </a:spcBef>
                  <a:buFont typeface="Arial" panose="020B0604020202020204" pitchFamily="34" charset="0"/>
                  <a:buChar char="•"/>
                  <a:defRPr lang="ru-RU"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ru-RU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8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ar-AE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ar-AE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  <m:sup>
                          <m:r>
                            <a:rPr kumimoji="0" lang="ar-AE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kumimoji="0" lang="ar-AE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ar-AE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ar-AE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ar-AE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ar-AE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0" lang="ar-AE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206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ar-AE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206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kumimoji="0" lang="ar-AE" sz="2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206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ar-AE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ar-AE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den>
                          </m:f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206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unc>
                            <m:funcPr>
                              <m:ctrlPr>
                                <a:rPr kumimoji="0" lang="ar-AE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sz="2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0" lang="ar-AE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206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&lt;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ar-AE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" name="Объект 2">
                <a:extLst>
                  <a:ext uri="{FF2B5EF4-FFF2-40B4-BE49-F238E27FC236}">
                    <a16:creationId xmlns:a16="http://schemas.microsoft.com/office/drawing/2014/main" id="{F170B00B-F317-E9DA-DFA0-7E545F93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370" y="3967243"/>
                <a:ext cx="6270649" cy="1086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3212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ABD4C-A902-E1A7-8965-526DF2A63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C5769C-065C-81A9-0E43-2AFFD42773E7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6) Проверка наличия асимптот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8A3E992-A43E-0507-6068-9D836C0301C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3000"/>
                  </a:spcBef>
                </a:pP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Вертикальная: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𝑠𝑖𝑛𝑥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→−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spcBef>
                    <a:spcPts val="3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и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0"/>
                  </a:spcBef>
                </a:pP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У функции бесконечные разрыва на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, поэтому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она не стремится к одному числу и не ведёт как прямая</a:t>
                </a: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.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28A3E992-A43E-0507-6068-9D836C0301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42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34DC-921C-7F54-2622-ABB1547F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987313F-B3BC-6FC8-FB38-73BCEB0BFE9A}"/>
              </a:ext>
            </a:extLst>
          </p:cNvPr>
          <p:cNvSpPr txBox="1">
            <a:spLocks/>
          </p:cNvSpPr>
          <p:nvPr/>
        </p:nvSpPr>
        <p:spPr>
          <a:xfrm>
            <a:off x="594358" y="497483"/>
            <a:ext cx="9709702" cy="111671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ru-RU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ru-RU">
                <a:solidFill>
                  <a:schemeClr val="tx2"/>
                </a:solidFill>
              </a:defRPr>
            </a:lvl2pPr>
            <a:lvl3pPr eaLnBrk="1" hangingPunct="1">
              <a:defRPr lang="ru-RU">
                <a:solidFill>
                  <a:schemeClr val="tx2"/>
                </a:solidFill>
              </a:defRPr>
            </a:lvl3pPr>
            <a:lvl4pPr eaLnBrk="1" hangingPunct="1">
              <a:defRPr lang="ru-RU">
                <a:solidFill>
                  <a:schemeClr val="tx2"/>
                </a:solidFill>
              </a:defRPr>
            </a:lvl4pPr>
            <a:lvl5pPr eaLnBrk="1" hangingPunct="1">
              <a:defRPr lang="ru-RU">
                <a:solidFill>
                  <a:schemeClr val="tx2"/>
                </a:solidFill>
              </a:defRPr>
            </a:lvl5pPr>
            <a:lvl6pPr eaLnBrk="1" hangingPunct="1">
              <a:defRPr lang="ru-RU">
                <a:solidFill>
                  <a:schemeClr val="tx2"/>
                </a:solidFill>
              </a:defRPr>
            </a:lvl6pPr>
            <a:lvl7pPr eaLnBrk="1" hangingPunct="1">
              <a:defRPr lang="ru-RU">
                <a:solidFill>
                  <a:schemeClr val="tx2"/>
                </a:solidFill>
              </a:defRPr>
            </a:lvl7pPr>
            <a:lvl8pPr eaLnBrk="1" hangingPunct="1">
              <a:defRPr lang="ru-RU">
                <a:solidFill>
                  <a:schemeClr val="tx2"/>
                </a:solidFill>
              </a:defRPr>
            </a:lvl8pPr>
            <a:lvl9pPr eaLnBrk="1" hangingPunct="1">
              <a:defRPr lang="ru-RU">
                <a:solidFill>
                  <a:schemeClr val="tx2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7) Пересечения с осями и доп. точки</a:t>
            </a:r>
            <a:endParaRPr kumimoji="0" lang="ar-AE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Demi"/>
              <a:ea typeface="+mj-ea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B6AC4AF3-7460-F714-71DF-53C3E9CF052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</p:spPr>
            <p:txBody>
              <a:bodyPr>
                <a:normAutofit/>
              </a:bodyPr>
              <a:lstStyle/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Oy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ru-RU" sz="2800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не пересекается</a:t>
                </a:r>
                <a:br>
                  <a:rPr lang="en-US" sz="2800" dirty="0">
                    <a:solidFill>
                      <a:srgbClr val="002060"/>
                    </a:solidFill>
                  </a:rPr>
                </a:br>
                <a:endParaRPr lang="en-US" sz="2800" dirty="0">
                  <a:solidFill>
                    <a:srgbClr val="002060"/>
                  </a:solidFill>
                </a:endParaRPr>
              </a:p>
              <a:p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С осью </a:t>
                </a:r>
                <a:r>
                  <a:rPr lang="en-US" sz="2800" b="1" i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Ox</a:t>
                </a:r>
                <a:r>
                  <a:rPr lang="en-US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800" b="1" dirty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:</a:t>
                </a:r>
                <a:endParaRPr lang="en-US" sz="28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и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ru-RU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и (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ru-RU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800" i="1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B6AC4AF3-7460-F714-71DF-53C3E9CF0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0" y="2442949"/>
                <a:ext cx="11497558" cy="4107976"/>
              </a:xfrm>
              <a:blipFill>
                <a:blip r:embed="rId2"/>
                <a:stretch>
                  <a:fillRect l="-1909" t="-2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0098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8862-D6C9-B207-E388-85F79494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A65E09ED-DAD3-E3F7-291B-E18A9D1389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</p:spPr>
            <p:txBody>
              <a:bodyPr vert="horz" lIns="0" tIns="0" rIns="0" bIns="0" rtlCol="0" anchor="b" anchorCtr="0">
                <a:noAutofit/>
              </a:bodyPr>
              <a:lstStyle>
                <a:defPPr>
                  <a:defRPr lang="ru-RU"/>
                </a:defPPr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lang="ru-RU"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 lang="ru-RU">
                    <a:solidFill>
                      <a:schemeClr val="tx2"/>
                    </a:solidFill>
                  </a:defRPr>
                </a:lvl2pPr>
                <a:lvl3pPr eaLnBrk="1" hangingPunct="1">
                  <a:defRPr lang="ru-RU">
                    <a:solidFill>
                      <a:schemeClr val="tx2"/>
                    </a:solidFill>
                  </a:defRPr>
                </a:lvl3pPr>
                <a:lvl4pPr eaLnBrk="1" hangingPunct="1">
                  <a:defRPr lang="ru-RU">
                    <a:solidFill>
                      <a:schemeClr val="tx2"/>
                    </a:solidFill>
                  </a:defRPr>
                </a:lvl4pPr>
                <a:lvl5pPr eaLnBrk="1" hangingPunct="1">
                  <a:defRPr lang="ru-RU">
                    <a:solidFill>
                      <a:schemeClr val="tx2"/>
                    </a:solidFill>
                  </a:defRPr>
                </a:lvl5pPr>
                <a:lvl6pPr eaLnBrk="1" hangingPunct="1">
                  <a:defRPr lang="ru-RU">
                    <a:solidFill>
                      <a:schemeClr val="tx2"/>
                    </a:solidFill>
                  </a:defRPr>
                </a:lvl6pPr>
                <a:lvl7pPr eaLnBrk="1" hangingPunct="1">
                  <a:defRPr lang="ru-RU">
                    <a:solidFill>
                      <a:schemeClr val="tx2"/>
                    </a:solidFill>
                  </a:defRPr>
                </a:lvl7pPr>
                <a:lvl8pPr eaLnBrk="1" hangingPunct="1">
                  <a:defRPr lang="ru-RU">
                    <a:solidFill>
                      <a:schemeClr val="tx2"/>
                    </a:solidFill>
                  </a:defRPr>
                </a:lvl8pPr>
                <a:lvl9pPr eaLnBrk="1" hangingPunct="1">
                  <a:defRPr lang="ru-RU">
                    <a:solidFill>
                      <a:schemeClr val="tx2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4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  <a:t>8)</a:t>
                </a:r>
                <a:r>
                  <a:rPr kumimoji="0" lang="ru-RU" sz="34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  <a:t> График функции </a:t>
                </a:r>
                <a14:m>
                  <m:oMath xmlns:m="http://schemas.openxmlformats.org/officeDocument/2006/math"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𝒈</m:t>
                    </m:r>
                    <m:d>
                      <m:dPr>
                        <m:ctrlPr>
                          <a:rPr kumimoji="0" lang="ar-AE" sz="34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kumimoji="0" lang="ar-AE" sz="3400" b="1" i="1" u="none" strike="noStrike" kern="1200" cap="none" spc="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𝒙</m:t>
                        </m:r>
                      </m:e>
                    </m:d>
                    <m:r>
                      <a:rPr kumimoji="0" lang="ar-AE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=</m:t>
                    </m:r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𝒍𝒏</m:t>
                    </m:r>
                    <m:d>
                      <m:dPr>
                        <m:ctrlPr>
                          <a:rPr kumimoji="0" lang="en-US" sz="3400" b="1" i="1" u="none" strike="noStrike" kern="1200" cap="none" spc="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kumimoji="0" lang="en-US" sz="3400" b="1" i="1" u="none" strike="noStrike" kern="1200" cap="none" spc="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𝒔𝒊𝒏</m:t>
                        </m:r>
                        <m:r>
                          <a:rPr kumimoji="0" lang="en-US" sz="3400" b="1" i="1" u="none" strike="noStrike" kern="1200" cap="none" spc="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 </m:t>
                        </m:r>
                        <m:r>
                          <a:rPr kumimoji="0" lang="en-US" sz="3400" b="1" i="1" u="none" strike="noStrike" kern="1200" cap="none" spc="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𝒙</m:t>
                        </m:r>
                      </m:e>
                    </m:d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+</m:t>
                    </m:r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𝒔𝒊𝒏</m:t>
                    </m:r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</m:t>
                    </m:r>
                    <m:r>
                      <a:rPr kumimoji="0" lang="en-US" sz="3400" b="1" i="1" u="none" strike="noStrike" kern="1200" cap="none" spc="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𝒙</m:t>
                    </m:r>
                  </m:oMath>
                </a14:m>
                <a:br>
                  <a:rPr kumimoji="0" lang="ar-AE" sz="3400" b="1" i="0" u="none" strike="noStrike" kern="1200" cap="none" spc="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Franklin Gothic Demi"/>
                    <a:ea typeface="+mj-ea"/>
                    <a:cs typeface="+mj-cs"/>
                  </a:rPr>
                </a:br>
                <a:endParaRPr kumimoji="0" lang="ar-AE" sz="3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Demi"/>
                  <a:ea typeface="+mj-ea"/>
                  <a:cs typeface="+mj-cs"/>
                </a:endParaRPr>
              </a:p>
            </p:txBody>
          </p:sp>
        </mc:Choice>
        <mc:Fallback>
          <p:sp>
            <p:nvSpPr>
              <p:cNvPr id="5" name="Заголовок 1">
                <a:extLst>
                  <a:ext uri="{FF2B5EF4-FFF2-40B4-BE49-F238E27FC236}">
                    <a16:creationId xmlns:a16="http://schemas.microsoft.com/office/drawing/2014/main" id="{A65E09ED-DAD3-E3F7-291B-E18A9D138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8" y="497483"/>
                <a:ext cx="9709702" cy="1116714"/>
              </a:xfrm>
              <a:prstGeom prst="rect">
                <a:avLst/>
              </a:prstGeom>
              <a:blipFill>
                <a:blip r:embed="rId2"/>
                <a:stretch>
                  <a:fillRect l="-26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91F51E9A-59A5-2B47-4FA6-DC542A3CD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7217" y="3705808"/>
                <a:ext cx="6188764" cy="24200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🔵 </a:t>
                </a:r>
                <a:r>
                  <a:rPr kumimoji="0" lang="ru-RU" altLang="ru-R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График функции</a:t>
                </a:r>
                <a:endParaRPr kumimoji="0" lang="ru-RU" alt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🔴 </a:t>
                </a:r>
                <a:r>
                  <a:rPr kumimoji="0" lang="ru-RU" altLang="ru-R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Максимум (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ru-RU" altLang="ru-R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ru-RU" altLang="ru-R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ea typeface="Cambria Math" panose="02040503050406030204" pitchFamily="18" charset="0"/>
                            <a:cs typeface="+mn-cs"/>
                          </a:rPr>
                          <m:t>𝝅</m:t>
                        </m:r>
                      </m:num>
                      <m:den>
                        <m:r>
                          <a:rPr kumimoji="0" lang="en-US" altLang="ru-RU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2060"/>
                            </a:solidFill>
                            <a:effectLst/>
                            <a:uLnTx/>
                            <a:uFillTx/>
                            <a:ea typeface="+mn-ea"/>
                            <a:cs typeface="+mn-cs"/>
                          </a:rPr>
                          <m:t>𝟐</m:t>
                        </m:r>
                      </m:den>
                    </m:f>
                    <m:r>
                      <a:rPr kumimoji="0" lang="en-US" altLang="ru-RU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m:t>, </m:t>
                    </m:r>
                    <m:r>
                      <a:rPr kumimoji="0" lang="en-US" altLang="ru-RU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altLang="ru-RU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ru-RU" alt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🟠 </a:t>
                </a:r>
                <a:r>
                  <a:rPr kumimoji="0" lang="ru-RU" altLang="ru-R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Дополнительные точки</a:t>
                </a:r>
                <a:endParaRPr kumimoji="0" lang="ru-RU" alt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🟢 </a:t>
                </a:r>
                <a:r>
                  <a:rPr kumimoji="0" lang="ru-RU" altLang="ru-RU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Нули функции </a:t>
                </a: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Franklin Gothic Book"/>
                    <a:ea typeface="+mn-ea"/>
                    <a:cs typeface="+mn-cs"/>
                  </a:rPr>
                  <a:t>(≈0.604; 0) и (≈2.538; 0)</a:t>
                </a:r>
                <a:endParaRPr kumimoji="0" lang="ru-RU" alt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Franklin Gothic Book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91F51E9A-59A5-2B47-4FA6-DC542A3CD4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7217" y="3705808"/>
                <a:ext cx="6188764" cy="2420021"/>
              </a:xfrm>
              <a:prstGeom prst="rect">
                <a:avLst/>
              </a:prstGeom>
              <a:blipFill>
                <a:blip r:embed="rId3"/>
                <a:stretch>
                  <a:fillRect l="-1280" b="-55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 descr="Изображение выглядит как снимок экрана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7CC11A-4F43-7CFB-3EAE-33752C5B9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53"/>
          <a:stretch>
            <a:fillRect/>
          </a:stretch>
        </p:blipFill>
        <p:spPr>
          <a:xfrm>
            <a:off x="357809" y="1283142"/>
            <a:ext cx="5539408" cy="546126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53D039-D39F-9D34-352E-96B58BB10DE3}"/>
              </a:ext>
            </a:extLst>
          </p:cNvPr>
          <p:cNvSpPr/>
          <p:nvPr/>
        </p:nvSpPr>
        <p:spPr>
          <a:xfrm>
            <a:off x="357809" y="1921565"/>
            <a:ext cx="2504661" cy="4903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02807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Пользовательская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6_TF78853419_Win32" id="{64F198E1-15ED-4C37-8B7E-9AFB96C99CBF}" vid="{515DDF0C-3F45-451B-B34F-9EB95F7A6FE3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1497</Words>
  <Application>Microsoft Office PowerPoint</Application>
  <PresentationFormat>Широкоэкранный</PresentationFormat>
  <Paragraphs>191</Paragraphs>
  <Slides>45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45</vt:i4>
      </vt:variant>
    </vt:vector>
  </HeadingPairs>
  <TitlesOfParts>
    <vt:vector size="57" baseType="lpstr">
      <vt:lpstr>ADLaM Display</vt:lpstr>
      <vt:lpstr>Aptos</vt:lpstr>
      <vt:lpstr>Arial</vt:lpstr>
      <vt:lpstr>Calibri</vt:lpstr>
      <vt:lpstr>Calibri Light</vt:lpstr>
      <vt:lpstr>Cambria Math</vt:lpstr>
      <vt:lpstr>Franklin Gothic Book</vt:lpstr>
      <vt:lpstr>Franklin Gothic Demi</vt:lpstr>
      <vt:lpstr>Times New Roman</vt:lpstr>
      <vt:lpstr>Wingdings</vt:lpstr>
      <vt:lpstr>Тема Office</vt:lpstr>
      <vt:lpstr>Пользовательская</vt:lpstr>
      <vt:lpstr>Проект матанализ</vt:lpstr>
      <vt:lpstr>Задание 1, выполнял Эльдар</vt:lpstr>
      <vt:lpstr>Пункт 1</vt:lpstr>
      <vt:lpstr>Пункт 2</vt:lpstr>
      <vt:lpstr>Пункт 3</vt:lpstr>
      <vt:lpstr>Пункт А</vt:lpstr>
      <vt:lpstr>Пункт Б</vt:lpstr>
      <vt:lpstr>Пункт В</vt:lpstr>
      <vt:lpstr>Пункт Г</vt:lpstr>
      <vt:lpstr>Пункт 1</vt:lpstr>
      <vt:lpstr>Пункт 2</vt:lpstr>
      <vt:lpstr>Пункт 3</vt:lpstr>
      <vt:lpstr>Пункт А</vt:lpstr>
      <vt:lpstr>Пункт Б</vt:lpstr>
      <vt:lpstr>Пункт В</vt:lpstr>
      <vt:lpstr>Пункт Г</vt:lpstr>
      <vt:lpstr>Задание 2, выполняла Вероника</vt:lpstr>
      <vt:lpstr>Презентация PowerPoint</vt:lpstr>
      <vt:lpstr>Презентация PowerPoint</vt:lpstr>
      <vt:lpstr>Задание 3, выполняла Дима</vt:lpstr>
      <vt:lpstr>Система уравнений и таблица</vt:lpstr>
      <vt:lpstr>Решение</vt:lpstr>
      <vt:lpstr>График и ответ</vt:lpstr>
      <vt:lpstr>Задание 4. Исследование функции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Проверка знак дроби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матанализ</dc:title>
  <dc:creator>Milten</dc:creator>
  <cp:lastModifiedBy>Васидов Мухаммадсаид Абдуфаттохович</cp:lastModifiedBy>
  <cp:revision>3</cp:revision>
  <dcterms:created xsi:type="dcterms:W3CDTF">2025-12-16T01:47:46Z</dcterms:created>
  <dcterms:modified xsi:type="dcterms:W3CDTF">2025-12-24T22:58:52Z</dcterms:modified>
</cp:coreProperties>
</file>